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334" r:id="rId4"/>
    <p:sldId id="335" r:id="rId5"/>
    <p:sldId id="350" r:id="rId6"/>
    <p:sldId id="351" r:id="rId7"/>
    <p:sldId id="357" r:id="rId8"/>
    <p:sldId id="356" r:id="rId9"/>
    <p:sldId id="354" r:id="rId10"/>
    <p:sldId id="355" r:id="rId11"/>
    <p:sldId id="352" r:id="rId12"/>
    <p:sldId id="336" r:id="rId13"/>
    <p:sldId id="337" r:id="rId14"/>
    <p:sldId id="359" r:id="rId15"/>
    <p:sldId id="360" r:id="rId16"/>
    <p:sldId id="338" r:id="rId17"/>
    <p:sldId id="341" r:id="rId18"/>
    <p:sldId id="339" r:id="rId19"/>
    <p:sldId id="340" r:id="rId20"/>
    <p:sldId id="361" r:id="rId21"/>
    <p:sldId id="371" r:id="rId22"/>
    <p:sldId id="342" r:id="rId23"/>
    <p:sldId id="362" r:id="rId24"/>
    <p:sldId id="343" r:id="rId25"/>
    <p:sldId id="363" r:id="rId26"/>
    <p:sldId id="344" r:id="rId27"/>
    <p:sldId id="364" r:id="rId28"/>
    <p:sldId id="365" r:id="rId29"/>
    <p:sldId id="366" r:id="rId30"/>
    <p:sldId id="367" r:id="rId31"/>
    <p:sldId id="372" r:id="rId32"/>
    <p:sldId id="348" r:id="rId33"/>
    <p:sldId id="369" r:id="rId34"/>
    <p:sldId id="368" r:id="rId35"/>
    <p:sldId id="276" r:id="rId36"/>
    <p:sldId id="277" r:id="rId37"/>
    <p:sldId id="370" r:id="rId38"/>
    <p:sldId id="281" r:id="rId39"/>
    <p:sldId id="278" r:id="rId40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025352-0C00-5B8A-DB7B-41CB2056D49A}" name="Paulo Otávio Luczensky de Souza" initials="PS" userId="S::paulo.souza@mtel.inatel.br::b8948cef-2d55-4fb8-a0a2-9ef1265743d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ulo Souza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E6F4E-C763-56F4-D182-A7DA5444211E}" v="1" dt="2025-11-27T23:03:12.928"/>
    <p1510:client id="{791B1376-0928-6797-4D1E-7DE99E610C45}" v="5412" dt="2025-11-28T21:06:06.859"/>
    <p1510:client id="{AD402211-20F7-85B4-BD9A-5EAC02650E75}" v="179" dt="2025-11-29T00:25:13.678"/>
    <p1510:client id="{B39F6A73-DD99-2B07-F95B-A4221DE482FB}" v="317" dt="2025-11-27T20:21:11.384"/>
    <p1510:client id="{D2A6EE6D-7AE5-5516-865E-A6CFFFD93987}" v="126" dt="2025-11-29T00:53:03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5" y="1"/>
            <a:ext cx="3169922" cy="19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92" y="1"/>
            <a:ext cx="3169922" cy="19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5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E9DEDDC-E9BF-82E2-3A59-FA333A97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57CFC7F-5102-4A8B-78E9-BA2A8022F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98A3FB2-A4A6-1FBA-81F7-897839A9F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028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8CC82AB-38AB-96DC-595A-B26552F2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BFD9EF1-4EF5-B691-F88D-70E2F1CB3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1EB7475-F58D-647B-6DCD-6E1FDD8A5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1429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A7DEF5D-29AA-0131-FA29-88AA54FC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ACD60E5-B6B0-EEFB-597C-1E2FBC8DC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73E2FE5-369D-756C-D8F2-60B473ADB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5116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F6139C2-9770-A06F-7AC4-81F133DC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2372EC1-CF60-8E1E-B488-6464CDDAD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8744A59-4040-1332-6949-08CBFCDCC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033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13C7756-251E-3FF3-64BC-1AD2D34B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92AF545-0E7C-831F-EAB1-DD4FE683B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15A5AA-3210-FBCB-B349-2316D8965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39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7D64405-66A8-5AC8-C01C-D40DE880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C5F5817-F5D1-03B7-8F3E-4F16E743A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2341C75-2545-8C85-322F-925F265D9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6144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115 </a:t>
            </a:r>
            <a:r>
              <a:rPr lang="en-US" err="1"/>
              <a:t>dispositivos</a:t>
            </a:r>
            <a:r>
              <a:rPr lang="en-US"/>
              <a:t> -&gt; </a:t>
            </a:r>
            <a:r>
              <a:rPr lang="en-US" err="1"/>
              <a:t>cenário</a:t>
            </a:r>
            <a:r>
              <a:rPr lang="en-US"/>
              <a:t> </a:t>
            </a:r>
            <a:r>
              <a:rPr lang="en-US" err="1"/>
              <a:t>expressivo</a:t>
            </a:r>
            <a:endParaRPr lang="en-US"/>
          </a:p>
          <a:p>
            <a:r>
              <a:rPr lang="en-US" err="1"/>
              <a:t>Apontar</a:t>
            </a:r>
            <a:r>
              <a:rPr lang="en-US"/>
              <a:t> </a:t>
            </a:r>
            <a:r>
              <a:rPr lang="en-US" err="1"/>
              <a:t>raspberrys</a:t>
            </a:r>
            <a:r>
              <a:rPr lang="en-US"/>
              <a:t> </a:t>
            </a:r>
            <a:r>
              <a:rPr lang="en-US" err="1"/>
              <a:t>atacantes</a:t>
            </a:r>
            <a:r>
              <a:rPr lang="en-US"/>
              <a:t>, o </a:t>
            </a:r>
            <a:r>
              <a:rPr lang="en-US" err="1"/>
              <a:t>espelhador</a:t>
            </a:r>
            <a:r>
              <a:rPr lang="en-US"/>
              <a:t> de </a:t>
            </a:r>
            <a:r>
              <a:rPr lang="en-US" err="1"/>
              <a:t>tráfego</a:t>
            </a:r>
            <a:r>
              <a:rPr lang="en-US"/>
              <a:t> e as </a:t>
            </a:r>
            <a:r>
              <a:rPr lang="en-US" err="1"/>
              <a:t>máquinas</a:t>
            </a:r>
            <a:r>
              <a:rPr lang="en-US"/>
              <a:t> </a:t>
            </a:r>
            <a:r>
              <a:rPr lang="en-US" err="1"/>
              <a:t>coletoras</a:t>
            </a:r>
            <a:r>
              <a:rPr lang="en-US"/>
              <a:t> de </a:t>
            </a:r>
            <a:r>
              <a:rPr lang="en-US" err="1"/>
              <a:t>tráfego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pt-BR"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925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Evidenciar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o dataset é </a:t>
            </a:r>
            <a:r>
              <a:rPr lang="en-US" err="1"/>
              <a:t>desbalanceado</a:t>
            </a:r>
          </a:p>
          <a:p>
            <a:r>
              <a:rPr lang="en-US" err="1"/>
              <a:t>Tráfego</a:t>
            </a:r>
            <a:r>
              <a:rPr lang="en-US"/>
              <a:t> </a:t>
            </a:r>
            <a:r>
              <a:rPr lang="en-US" err="1"/>
              <a:t>benigno</a:t>
            </a:r>
            <a:r>
              <a:rPr lang="en-US"/>
              <a:t> é o </a:t>
            </a:r>
            <a:r>
              <a:rPr lang="en-US" err="1"/>
              <a:t>tráfego</a:t>
            </a:r>
            <a:r>
              <a:rPr lang="en-US"/>
              <a:t> </a:t>
            </a:r>
            <a:r>
              <a:rPr lang="en-US" err="1"/>
              <a:t>típico</a:t>
            </a:r>
            <a:r>
              <a:rPr lang="en-US"/>
              <a:t> da rede</a:t>
            </a:r>
          </a:p>
          <a:p>
            <a:r>
              <a:rPr lang="en-US" err="1"/>
              <a:t>Ataques</a:t>
            </a:r>
            <a:r>
              <a:rPr lang="en-US"/>
              <a:t> DDoS e DoS </a:t>
            </a:r>
            <a:r>
              <a:rPr lang="en-US" err="1"/>
              <a:t>visam</a:t>
            </a:r>
            <a:r>
              <a:rPr lang="en-US"/>
              <a:t> </a:t>
            </a:r>
            <a:r>
              <a:rPr lang="en-US" err="1"/>
              <a:t>indisponibilizar</a:t>
            </a:r>
            <a:r>
              <a:rPr lang="en-US"/>
              <a:t> </a:t>
            </a:r>
            <a:r>
              <a:rPr lang="en-US" err="1"/>
              <a:t>serviços</a:t>
            </a:r>
            <a:r>
              <a:rPr lang="en-US"/>
              <a:t> </a:t>
            </a:r>
            <a:r>
              <a:rPr lang="en-US" err="1"/>
              <a:t>saturando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recursos</a:t>
            </a:r>
            <a:r>
              <a:rPr lang="en-US"/>
              <a:t> de um </a:t>
            </a:r>
            <a:r>
              <a:rPr lang="en-US" err="1"/>
              <a:t>servidor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direcionar</a:t>
            </a:r>
            <a:r>
              <a:rPr lang="en-US"/>
              <a:t> </a:t>
            </a:r>
            <a:r>
              <a:rPr lang="en-US" err="1"/>
              <a:t>tráfego</a:t>
            </a:r>
            <a:r>
              <a:rPr lang="en-US"/>
              <a:t> </a:t>
            </a:r>
            <a:r>
              <a:rPr lang="en-US" err="1"/>
              <a:t>massivo</a:t>
            </a:r>
            <a:r>
              <a:rPr lang="en-US"/>
              <a:t> e </a:t>
            </a:r>
            <a:r>
              <a:rPr lang="en-US" err="1"/>
              <a:t>anômalo</a:t>
            </a:r>
            <a:r>
              <a:rPr lang="en-US"/>
              <a:t> para </a:t>
            </a:r>
            <a:r>
              <a:rPr lang="en-US" err="1"/>
              <a:t>ele</a:t>
            </a:r>
            <a:r>
              <a:rPr lang="en-US"/>
              <a:t>. São </a:t>
            </a:r>
            <a:r>
              <a:rPr lang="en-US" err="1"/>
              <a:t>muito</a:t>
            </a:r>
            <a:r>
              <a:rPr lang="en-US"/>
              <a:t> </a:t>
            </a:r>
            <a:r>
              <a:rPr lang="en-US" err="1"/>
              <a:t>parecidos</a:t>
            </a:r>
            <a:r>
              <a:rPr lang="en-US"/>
              <a:t>, a </a:t>
            </a:r>
            <a:r>
              <a:rPr lang="en-US" err="1"/>
              <a:t>diferença</a:t>
            </a:r>
            <a:r>
              <a:rPr lang="en-US"/>
              <a:t> é </a:t>
            </a:r>
            <a:r>
              <a:rPr lang="en-US" err="1"/>
              <a:t>que</a:t>
            </a:r>
            <a:r>
              <a:rPr lang="en-US"/>
              <a:t> o DDoS </a:t>
            </a:r>
            <a:r>
              <a:rPr lang="en-US" err="1"/>
              <a:t>parte</a:t>
            </a:r>
            <a:r>
              <a:rPr lang="en-US"/>
              <a:t> de </a:t>
            </a:r>
            <a:r>
              <a:rPr lang="en-US" err="1"/>
              <a:t>múltiplas</a:t>
            </a:r>
            <a:r>
              <a:rPr lang="en-US"/>
              <a:t> </a:t>
            </a:r>
            <a:r>
              <a:rPr lang="en-US" err="1"/>
              <a:t>fontes</a:t>
            </a:r>
            <a:r>
              <a:rPr lang="en-US"/>
              <a:t> e o DoS de um </a:t>
            </a:r>
            <a:r>
              <a:rPr lang="en-US" err="1"/>
              <a:t>único</a:t>
            </a:r>
            <a:r>
              <a:rPr lang="en-US"/>
              <a:t> </a:t>
            </a:r>
            <a:r>
              <a:rPr lang="en-US" err="1"/>
              <a:t>dispositivo</a:t>
            </a:r>
            <a:r>
              <a:rPr lang="en-US"/>
              <a:t>.</a:t>
            </a:r>
          </a:p>
          <a:p>
            <a:r>
              <a:rPr lang="en-US" err="1"/>
              <a:t>Ataques</a:t>
            </a:r>
            <a:r>
              <a:rPr lang="en-US"/>
              <a:t> de </a:t>
            </a:r>
            <a:r>
              <a:rPr lang="en-US" err="1"/>
              <a:t>reconheciemento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o </a:t>
            </a:r>
            <a:r>
              <a:rPr lang="en-US" err="1"/>
              <a:t>objetivo</a:t>
            </a:r>
            <a:r>
              <a:rPr lang="en-US"/>
              <a:t> de </a:t>
            </a:r>
            <a:r>
              <a:rPr lang="en-US" err="1"/>
              <a:t>coletar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a </a:t>
            </a:r>
            <a:r>
              <a:rPr lang="en-US" err="1"/>
              <a:t>vítima</a:t>
            </a:r>
            <a:r>
              <a:rPr lang="en-US"/>
              <a:t> para </a:t>
            </a:r>
            <a:r>
              <a:rPr lang="en-US" err="1"/>
              <a:t>planejar</a:t>
            </a:r>
            <a:r>
              <a:rPr lang="en-US"/>
              <a:t> </a:t>
            </a:r>
            <a:r>
              <a:rPr lang="en-US" err="1"/>
              <a:t>ataques</a:t>
            </a:r>
            <a:r>
              <a:rPr lang="en-US"/>
              <a:t> </a:t>
            </a:r>
            <a:r>
              <a:rPr lang="en-US" err="1"/>
              <a:t>futuros</a:t>
            </a:r>
            <a:r>
              <a:rPr lang="en-US"/>
              <a:t>,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identificar</a:t>
            </a:r>
            <a:r>
              <a:rPr lang="en-US"/>
              <a:t> </a:t>
            </a:r>
            <a:r>
              <a:rPr lang="en-US" err="1"/>
              <a:t>vulnerabilidades</a:t>
            </a:r>
            <a:r>
              <a:rPr lang="en-US"/>
              <a:t>, </a:t>
            </a:r>
            <a:r>
              <a:rPr lang="en-US" err="1"/>
              <a:t>portas</a:t>
            </a:r>
            <a:r>
              <a:rPr lang="en-US"/>
              <a:t> de </a:t>
            </a:r>
            <a:r>
              <a:rPr lang="en-US" err="1"/>
              <a:t>serviço</a:t>
            </a:r>
            <a:r>
              <a:rPr lang="en-US"/>
              <a:t> </a:t>
            </a:r>
            <a:r>
              <a:rPr lang="en-US" err="1"/>
              <a:t>abertas</a:t>
            </a:r>
            <a:r>
              <a:rPr lang="en-US"/>
              <a:t>, hosts e </a:t>
            </a:r>
            <a:r>
              <a:rPr lang="en-US" err="1"/>
              <a:t>serviços</a:t>
            </a:r>
            <a:r>
              <a:rPr lang="en-US"/>
              <a:t> </a:t>
            </a:r>
            <a:r>
              <a:rPr lang="en-US" err="1"/>
              <a:t>presentes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rede, dados </a:t>
            </a:r>
            <a:r>
              <a:rPr lang="en-US" err="1"/>
              <a:t>como</a:t>
            </a:r>
            <a:r>
              <a:rPr lang="en-US"/>
              <a:t> IPs, </a:t>
            </a:r>
            <a:r>
              <a:rPr lang="en-US" err="1"/>
              <a:t>versões</a:t>
            </a:r>
            <a:r>
              <a:rPr lang="en-US"/>
              <a:t> de OS, etc.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pt-BR"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5469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Fluxos</a:t>
            </a:r>
            <a:r>
              <a:rPr lang="en-US"/>
              <a:t> de </a:t>
            </a:r>
            <a:r>
              <a:rPr lang="en-US" err="1"/>
              <a:t>comunicação</a:t>
            </a:r>
            <a:r>
              <a:rPr lang="en-US"/>
              <a:t> </a:t>
            </a:r>
            <a:r>
              <a:rPr lang="en-US" err="1"/>
              <a:t>processados</a:t>
            </a:r>
            <a:r>
              <a:rPr lang="en-US"/>
              <a:t> -&gt;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pacotes</a:t>
            </a:r>
            <a:r>
              <a:rPr lang="en-US"/>
              <a:t> </a:t>
            </a:r>
            <a:r>
              <a:rPr lang="en-US" err="1"/>
              <a:t>brutos</a:t>
            </a:r>
            <a:r>
              <a:rPr lang="en-US"/>
              <a:t>,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amostra</a:t>
            </a:r>
            <a:r>
              <a:rPr lang="en-US"/>
              <a:t> </a:t>
            </a:r>
            <a:r>
              <a:rPr lang="en-US" err="1"/>
              <a:t>representa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sessão</a:t>
            </a:r>
            <a:r>
              <a:rPr lang="en-US"/>
              <a:t> </a:t>
            </a:r>
            <a:r>
              <a:rPr lang="en-US" err="1"/>
              <a:t>inteira</a:t>
            </a:r>
            <a:r>
              <a:rPr lang="en-US"/>
              <a:t> de </a:t>
            </a:r>
            <a:r>
              <a:rPr lang="en-US" err="1"/>
              <a:t>pacotes</a:t>
            </a:r>
            <a:r>
              <a:rPr lang="en-US"/>
              <a:t> </a:t>
            </a:r>
            <a:r>
              <a:rPr lang="en-US" err="1"/>
              <a:t>trocados</a:t>
            </a:r>
            <a:r>
              <a:rPr lang="en-US"/>
              <a:t> 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pt-BR"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9207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B32AF39D-36CB-1575-7E4A-C6E2CB6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2321BA12-3460-67AA-2BBF-256E7352C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>
            <a:extLst>
              <a:ext uri="{FF2B5EF4-FFF2-40B4-BE49-F238E27FC236}">
                <a16:creationId xmlns:a16="http://schemas.microsoft.com/office/drawing/2014/main" id="{A1244E8C-5DBE-9565-F3AB-6CC4C4542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221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ciberseguran%C3%A7a-em-alta-tend%C3%AAncias-e-investimentos-at%C3%A9-2028-ecak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3/13/594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966440" y="726881"/>
            <a:ext cx="10268414" cy="25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buSzPct val="100000"/>
            </a:pPr>
            <a:r>
              <a:rPr lang="pt-BR" sz="5400"/>
              <a:t>TP558 - Tópicos avançados em Machine Learning:</a:t>
            </a:r>
            <a:br>
              <a:rPr lang="pt-BR"/>
            </a:br>
            <a:r>
              <a:rPr lang="pt-BR" b="1" i="1"/>
              <a:t>Detecção de Ameaças IoT: Abordagem Federada e Explicável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7915801" y="5780602"/>
            <a:ext cx="400434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2000">
                <a:solidFill>
                  <a:schemeClr val="dk1"/>
                </a:solidFill>
                <a:latin typeface="Calibri"/>
                <a:ea typeface="Calibri"/>
              </a:rPr>
              <a:t>Alessandra Carolina Domiciano</a:t>
            </a:r>
            <a:endParaRPr lang="pt-BR">
              <a:solidFill>
                <a:schemeClr val="dk1"/>
              </a:solidFill>
              <a:latin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Paulo Otavio </a:t>
            </a:r>
            <a:r>
              <a:rPr lang="pt-BR" sz="20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Luczensky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Souza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1" name="Google Shape;91;p13" descr="Logo"/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 result for machine learning"/>
          <p:cNvPicPr preferRelativeResize="0"/>
          <p:nvPr/>
        </p:nvPicPr>
        <p:blipFill rotWithShape="1">
          <a:blip r:embed="rId4">
            <a:alphaModFix/>
          </a:blip>
          <a:srcRect l="20193" t="8107" r="14530" b="5794"/>
          <a:stretch/>
        </p:blipFill>
        <p:spPr>
          <a:xfrm>
            <a:off x="4965305" y="3439886"/>
            <a:ext cx="2261389" cy="22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Introdução</a:t>
            </a: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416643C6-FD95-7A76-007C-00D8897796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19EB5F-DA11-FC52-718F-79FEC8EFC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643"/>
            <a:ext cx="10497015" cy="4556272"/>
          </a:xfrm>
        </p:spPr>
        <p:txBody>
          <a:bodyPr>
            <a:normAutofit/>
          </a:bodyPr>
          <a:lstStyle/>
          <a:p>
            <a:pPr marL="114300" indent="0" algn="just"/>
            <a:r>
              <a:rPr lang="pt-BR">
                <a:solidFill>
                  <a:schemeClr val="tx1"/>
                </a:solidFill>
              </a:rPr>
              <a:t>   Nos últimos anos, houve um crescente aumento na quantidade de dados produzidos por aplicações, transmitidos pela rede e armazenados em servidores e data centers.</a:t>
            </a:r>
          </a:p>
          <a:p>
            <a:endParaRPr lang="pt-BR">
              <a:solidFill>
                <a:schemeClr val="tx1"/>
              </a:solidFill>
            </a:endParaRPr>
          </a:p>
          <a:p>
            <a:r>
              <a:rPr lang="pt-BR">
                <a:solidFill>
                  <a:schemeClr val="tx1"/>
                </a:solidFill>
              </a:rPr>
              <a:t>Consequentemente, aumentou-se o risco de exposição de dados sensíveis e a incidência de crimes cibernéticos no mundo todo.</a:t>
            </a:r>
          </a:p>
          <a:p>
            <a:endParaRPr lang="pt-BR">
              <a:solidFill>
                <a:schemeClr val="tx1"/>
              </a:solidFill>
            </a:endParaRPr>
          </a:p>
          <a:p>
            <a:r>
              <a:rPr lang="pt-BR">
                <a:solidFill>
                  <a:schemeClr val="tx1"/>
                </a:solidFill>
              </a:rPr>
              <a:t>Com isso, nos últimos anos, houve uma maior urgência em prevenir ataques e proteger sistemas críticos.</a:t>
            </a:r>
          </a:p>
          <a:p>
            <a:pPr marL="114300" indent="0">
              <a:buNone/>
            </a:pPr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2415703-A6DC-EFA0-C5B5-8E532CFD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B1695A0C-FFCF-0FF1-2FA6-D1E3AC8F5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pt-BR" sz="3600"/>
              <a:t>Introdução - Visão Geral de Ataques Cibernéticos</a:t>
            </a: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516EE685-1B2B-B4E9-5EA0-115F07941F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648349-8101-8F45-67EC-FE8F11CC8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pic>
        <p:nvPicPr>
          <p:cNvPr id="2" name="Imagem 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C2784FDA-B9C6-8EB2-200F-6A7912A94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57" y="1956806"/>
            <a:ext cx="6002145" cy="295368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B93AD52-9644-FDEC-2F75-154F078F2DA8}"/>
              </a:ext>
            </a:extLst>
          </p:cNvPr>
          <p:cNvSpPr txBox="1"/>
          <p:nvPr/>
        </p:nvSpPr>
        <p:spPr>
          <a:xfrm>
            <a:off x="6393365" y="1709482"/>
            <a:ext cx="5687121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2000" err="1">
                <a:latin typeface="Calibri"/>
              </a:rPr>
              <a:t>Aumento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contínuo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ataques</a:t>
            </a:r>
            <a:r>
              <a:rPr lang="en-US" sz="2000">
                <a:latin typeface="Calibri"/>
              </a:rPr>
              <a:t> entre 2016 e 2021</a:t>
            </a:r>
            <a:endParaRPr lang="pt-BR"/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err="1">
                <a:latin typeface="Calibri"/>
              </a:rPr>
              <a:t>Principais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tipos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ataques</a:t>
            </a:r>
            <a:r>
              <a:rPr lang="en-US" sz="2000">
                <a:latin typeface="Calibri"/>
              </a:rPr>
              <a:t>:</a:t>
            </a:r>
          </a:p>
          <a:p>
            <a:pPr marL="685800" lvl="2" indent="-228600" algn="just">
              <a:buFont typeface="Wingdings"/>
              <a:buChar char="§"/>
            </a:pPr>
            <a:r>
              <a:rPr lang="en-US" sz="2000" i="1">
                <a:latin typeface="Calibri"/>
              </a:rPr>
              <a:t>Phishing</a:t>
            </a:r>
          </a:p>
          <a:p>
            <a:pPr marL="685800" lvl="2" indent="-228600" algn="just">
              <a:buFont typeface="Wingdings"/>
              <a:buChar char="§"/>
            </a:pPr>
            <a:r>
              <a:rPr lang="en-US" sz="2000" err="1">
                <a:latin typeface="Calibri"/>
              </a:rPr>
              <a:t>Fraudes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financeiras</a:t>
            </a:r>
            <a:endParaRPr lang="en-US" sz="2000">
              <a:latin typeface="Calibri"/>
            </a:endParaRPr>
          </a:p>
          <a:p>
            <a:pPr marL="685800" lvl="2" indent="-228600" algn="just">
              <a:buFont typeface="Wingdings"/>
              <a:buChar char="§"/>
            </a:pPr>
            <a:r>
              <a:rPr lang="en-US" sz="2000">
                <a:latin typeface="Calibri"/>
              </a:rPr>
              <a:t>Golpes com </a:t>
            </a:r>
            <a:r>
              <a:rPr lang="en-US" sz="2000" err="1">
                <a:latin typeface="Calibri"/>
              </a:rPr>
              <a:t>cartão</a:t>
            </a:r>
            <a:endParaRPr lang="en-US" sz="2000">
              <a:latin typeface="Calibri"/>
            </a:endParaRPr>
          </a:p>
          <a:p>
            <a:pPr marL="685800" lvl="2" indent="-228600" algn="just">
              <a:buFont typeface="Wingdings"/>
              <a:buChar char="§"/>
            </a:pPr>
            <a:r>
              <a:rPr lang="en-US" sz="2000" err="1">
                <a:latin typeface="Calibri"/>
              </a:rPr>
              <a:t>Extorsão</a:t>
            </a:r>
            <a:endParaRPr lang="en-US" sz="2000">
              <a:latin typeface="Calibri"/>
            </a:endParaRPr>
          </a:p>
          <a:p>
            <a:pPr marL="685800" lvl="2" indent="-228600" algn="just">
              <a:buFont typeface="Wingdings"/>
              <a:buChar char="§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>
                <a:latin typeface="Calibri"/>
              </a:rPr>
              <a:t>Queda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2022, mas forte </a:t>
            </a:r>
            <a:r>
              <a:rPr lang="en-US" sz="2000" err="1">
                <a:latin typeface="Calibri"/>
              </a:rPr>
              <a:t>retomada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2023 (60+ </a:t>
            </a:r>
            <a:r>
              <a:rPr lang="en-US" sz="2000" err="1">
                <a:latin typeface="Calibri"/>
              </a:rPr>
              <a:t>bilhões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tentativas</a:t>
            </a:r>
            <a:r>
              <a:rPr lang="en-US" sz="2000">
                <a:latin typeface="Calibri"/>
              </a:rPr>
              <a:t> no </a:t>
            </a:r>
            <a:r>
              <a:rPr lang="en-US" sz="2000" err="1">
                <a:latin typeface="Calibri"/>
              </a:rPr>
              <a:t>Brasil</a:t>
            </a:r>
            <a:r>
              <a:rPr lang="en-US" sz="2000">
                <a:latin typeface="Calibri"/>
              </a:rPr>
              <a:t>)</a:t>
            </a:r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pt-BR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 Brasil gastará cerca de R$ 104,6 bilhões entre 2025 e 2028 em </a:t>
            </a:r>
            <a:r>
              <a:rPr lang="pt-BR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ciber</a:t>
            </a:r>
            <a:r>
              <a:rPr lang="pt-BR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segurança.</a:t>
            </a:r>
            <a:endParaRPr lang="en-US" sz="2000">
              <a:solidFill>
                <a:schemeClr val="tx1"/>
              </a:solidFill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84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21C60B6-500C-714D-442B-CF7DA841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08E8A521-5502-1A99-9CF6-F399BD642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pt-BR" sz="3600"/>
              <a:t>Introdução - Visão Geral dos Ataques em IoT</a:t>
            </a: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75454343-50D0-426F-9960-F9E88FFB6C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4E77BF-C814-9FA2-69B4-808EAC10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00F230D-1488-9F28-BF11-7454F0F54E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1" t="741" r="1151" b="11807"/>
          <a:stretch>
            <a:fillRect/>
          </a:stretch>
        </p:blipFill>
        <p:spPr>
          <a:xfrm>
            <a:off x="389890" y="1717358"/>
            <a:ext cx="5538594" cy="339406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72C51F1-8EEB-A436-8622-F8E0ACDD3AE0}"/>
              </a:ext>
            </a:extLst>
          </p:cNvPr>
          <p:cNvSpPr txBox="1"/>
          <p:nvPr/>
        </p:nvSpPr>
        <p:spPr>
          <a:xfrm>
            <a:off x="6096000" y="2402840"/>
            <a:ext cx="5821680" cy="2759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2000" err="1">
                <a:latin typeface="Calibri"/>
              </a:rPr>
              <a:t>Expansão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acelerada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dispositivos</a:t>
            </a:r>
            <a:r>
              <a:rPr lang="en-US" sz="2000">
                <a:latin typeface="Calibri"/>
              </a:rPr>
              <a:t> IoT</a:t>
            </a:r>
            <a:endParaRPr lang="pt-BR"/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err="1">
                <a:latin typeface="Calibri"/>
              </a:rPr>
              <a:t>Troca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constante</a:t>
            </a:r>
            <a:r>
              <a:rPr lang="en-US" sz="2000">
                <a:latin typeface="Calibri"/>
              </a:rPr>
              <a:t> de dados → </a:t>
            </a:r>
            <a:r>
              <a:rPr lang="en-US" sz="2000" err="1">
                <a:latin typeface="Calibri"/>
              </a:rPr>
              <a:t>aumento</a:t>
            </a:r>
            <a:r>
              <a:rPr lang="en-US" sz="2000">
                <a:latin typeface="Calibri"/>
              </a:rPr>
              <a:t> da </a:t>
            </a:r>
            <a:r>
              <a:rPr lang="en-US" sz="2000" err="1">
                <a:latin typeface="Calibri"/>
              </a:rPr>
              <a:t>superfície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ataque</a:t>
            </a: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err="1">
                <a:latin typeface="Calibri"/>
              </a:rPr>
              <a:t>Crescimento</a:t>
            </a:r>
            <a:r>
              <a:rPr lang="en-US" sz="2000">
                <a:latin typeface="Calibri"/>
              </a:rPr>
              <a:t> global de </a:t>
            </a:r>
            <a:r>
              <a:rPr lang="en-US" sz="2000" err="1">
                <a:latin typeface="Calibri"/>
              </a:rPr>
              <a:t>ataques</a:t>
            </a:r>
            <a:r>
              <a:rPr lang="en-US" sz="2000">
                <a:latin typeface="Calibri"/>
              </a:rPr>
              <a:t> IoT entre 2018 e 2022:</a:t>
            </a:r>
          </a:p>
          <a:p>
            <a:pPr marL="685800" lvl="2" indent="-228600" algn="just">
              <a:buFont typeface="Wingdings"/>
              <a:buChar char="§"/>
            </a:pPr>
            <a:r>
              <a:rPr lang="en-US" sz="2000">
                <a:latin typeface="Calibri"/>
              </a:rPr>
              <a:t>De </a:t>
            </a:r>
            <a:r>
              <a:rPr lang="en-US" sz="2000" b="1">
                <a:latin typeface="Calibri"/>
              </a:rPr>
              <a:t>32,7 </a:t>
            </a:r>
            <a:r>
              <a:rPr lang="en-US" sz="2000" b="1" err="1">
                <a:latin typeface="Calibri"/>
              </a:rPr>
              <a:t>milhões</a:t>
            </a:r>
            <a:r>
              <a:rPr lang="en-US" sz="2000">
                <a:latin typeface="Calibri"/>
              </a:rPr>
              <a:t> → </a:t>
            </a:r>
            <a:r>
              <a:rPr lang="en-US" sz="2000" b="1">
                <a:latin typeface="Calibri"/>
              </a:rPr>
              <a:t>112,29 </a:t>
            </a:r>
            <a:r>
              <a:rPr lang="en-US" sz="2000" b="1" err="1">
                <a:latin typeface="Calibri"/>
              </a:rPr>
              <a:t>milhões</a:t>
            </a: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02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4361D-71CA-9CEF-250C-1DD8A2E6B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AD83F-B825-F896-A882-98A3A41F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3357" y="2793365"/>
            <a:ext cx="6374408" cy="1269187"/>
          </a:xfrm>
        </p:spPr>
        <p:txBody>
          <a:bodyPr>
            <a:normAutofit/>
          </a:bodyPr>
          <a:lstStyle/>
          <a:p>
            <a:r>
              <a:rPr lang="pt-BR"/>
              <a:t>Referencial Teórico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C4220905-D288-EA17-BACC-557E21B11A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364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52FF5F5-BE37-7354-688A-9D1A6ACE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FF5C7B7-3F8A-3BCE-0ABF-5ABA360BC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86064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EB6EADCD-E2F2-6B98-F3BD-E09E38CAAF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975748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D9D999-2FBA-E813-64B9-799C269BB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643"/>
            <a:ext cx="10497015" cy="4556272"/>
          </a:xfrm>
        </p:spPr>
        <p:txBody>
          <a:bodyPr>
            <a:normAutofit/>
          </a:bodyPr>
          <a:lstStyle/>
          <a:p>
            <a:pPr marL="114300" indent="0"/>
            <a:endParaRPr lang="pt-BR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9DA7EE-4332-5738-85BD-2C44B55FC141}"/>
              </a:ext>
            </a:extLst>
          </p:cNvPr>
          <p:cNvSpPr txBox="1"/>
          <p:nvPr/>
        </p:nvSpPr>
        <p:spPr>
          <a:xfrm>
            <a:off x="836342" y="1031488"/>
            <a:ext cx="10500731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Este </a:t>
            </a:r>
            <a:r>
              <a:rPr lang="en-US" sz="2400" err="1">
                <a:latin typeface="Calibri"/>
                <a:ea typeface="Calibri"/>
                <a:cs typeface="Calibri"/>
              </a:rPr>
              <a:t>estudo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baseou</a:t>
            </a:r>
            <a:r>
              <a:rPr lang="en-US" sz="2400">
                <a:latin typeface="Calibri"/>
                <a:ea typeface="Calibri"/>
                <a:cs typeface="Calibri"/>
              </a:rPr>
              <a:t>-se </a:t>
            </a:r>
            <a:r>
              <a:rPr lang="en-US" sz="2400" err="1">
                <a:latin typeface="Calibri"/>
                <a:ea typeface="Calibri"/>
                <a:cs typeface="Calibri"/>
              </a:rPr>
              <a:t>em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projetos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que</a:t>
            </a:r>
            <a:r>
              <a:rPr lang="en-US" sz="2400">
                <a:latin typeface="Calibri"/>
                <a:ea typeface="Calibri"/>
                <a:cs typeface="Calibri"/>
              </a:rPr>
              <a:t>:</a:t>
            </a:r>
            <a:endParaRPr lang="pt-BR" sz="24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400" b="1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err="1">
                <a:latin typeface="Calibri"/>
              </a:rPr>
              <a:t>Integram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segurança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desde</a:t>
            </a:r>
            <a:r>
              <a:rPr lang="en-US" sz="2400" b="1">
                <a:latin typeface="Calibri"/>
              </a:rPr>
              <a:t> a </a:t>
            </a:r>
            <a:r>
              <a:rPr lang="en-US" sz="2400" b="1" err="1">
                <a:latin typeface="Calibri"/>
              </a:rPr>
              <a:t>concepção</a:t>
            </a:r>
            <a:r>
              <a:rPr lang="en-US" sz="2400">
                <a:latin typeface="Calibri"/>
              </a:rPr>
              <a:t>, </a:t>
            </a:r>
            <a:r>
              <a:rPr lang="en-US" sz="2400" err="1">
                <a:latin typeface="Calibri"/>
              </a:rPr>
              <a:t>seguindo</a:t>
            </a:r>
            <a:r>
              <a:rPr lang="en-US" sz="2400">
                <a:latin typeface="Calibri"/>
              </a:rPr>
              <a:t> a </a:t>
            </a:r>
            <a:r>
              <a:rPr lang="en-US" sz="2400" err="1">
                <a:latin typeface="Calibri"/>
              </a:rPr>
              <a:t>visão</a:t>
            </a:r>
            <a:r>
              <a:rPr lang="en-US" sz="2400">
                <a:latin typeface="Calibri"/>
              </a:rPr>
              <a:t> de </a:t>
            </a:r>
            <a:r>
              <a:rPr lang="en-US" sz="2400" err="1">
                <a:latin typeface="Calibri"/>
              </a:rPr>
              <a:t>que</a:t>
            </a:r>
            <a:r>
              <a:rPr lang="en-US" sz="2400">
                <a:latin typeface="Calibri"/>
              </a:rPr>
              <a:t> software é o </a:t>
            </a:r>
            <a:r>
              <a:rPr lang="en-US" sz="2400" err="1">
                <a:latin typeface="Calibri"/>
              </a:rPr>
              <a:t>elemento</a:t>
            </a:r>
            <a:r>
              <a:rPr lang="en-US" sz="2400">
                <a:latin typeface="Calibri"/>
              </a:rPr>
              <a:t> central da Indústria 4.0 e </a:t>
            </a:r>
            <a:r>
              <a:rPr lang="en-US" sz="2400" err="1">
                <a:latin typeface="Calibri"/>
              </a:rPr>
              <a:t>que</a:t>
            </a:r>
            <a:r>
              <a:rPr lang="en-US" sz="2400">
                <a:latin typeface="Calibri"/>
              </a:rPr>
              <a:t> IoT/CPS </a:t>
            </a:r>
            <a:r>
              <a:rPr lang="en-US" sz="2400" err="1">
                <a:latin typeface="Calibri"/>
              </a:rPr>
              <a:t>exigem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proteção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embutida</a:t>
            </a:r>
            <a:r>
              <a:rPr lang="en-US" sz="2400">
                <a:latin typeface="Calibri"/>
              </a:rPr>
              <a:t> no </a:t>
            </a:r>
            <a:r>
              <a:rPr lang="en-US" sz="2400" err="1">
                <a:latin typeface="Calibri"/>
              </a:rPr>
              <a:t>próprio</a:t>
            </a:r>
            <a:r>
              <a:rPr lang="en-US" sz="2400">
                <a:latin typeface="Calibri"/>
              </a:rPr>
              <a:t> design.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>
                <a:latin typeface="Calibri"/>
              </a:rPr>
              <a:t>Aplicam XAI para </a:t>
            </a:r>
            <a:r>
              <a:rPr lang="en-US" sz="2400" b="1" err="1">
                <a:latin typeface="Calibri"/>
              </a:rPr>
              <a:t>aumentar</a:t>
            </a:r>
            <a:r>
              <a:rPr lang="en-US" sz="2400" b="1">
                <a:latin typeface="Calibri"/>
              </a:rPr>
              <a:t> a </a:t>
            </a:r>
            <a:r>
              <a:rPr lang="en-US" sz="2400" b="1" err="1">
                <a:latin typeface="Calibri"/>
              </a:rPr>
              <a:t>transparência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na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detecção</a:t>
            </a:r>
            <a:r>
              <a:rPr lang="en-US" sz="2400" b="1">
                <a:latin typeface="Calibri"/>
              </a:rPr>
              <a:t> de </a:t>
            </a:r>
            <a:r>
              <a:rPr lang="en-US" sz="2400" b="1" err="1">
                <a:latin typeface="Calibri"/>
              </a:rPr>
              <a:t>ataques</a:t>
            </a:r>
            <a:r>
              <a:rPr lang="en-US" sz="2400">
                <a:latin typeface="Calibri"/>
              </a:rPr>
              <a:t>, </a:t>
            </a:r>
            <a:r>
              <a:rPr lang="en-US" sz="2400" err="1">
                <a:latin typeface="Calibri"/>
              </a:rPr>
              <a:t>reduzindo</a:t>
            </a:r>
            <a:r>
              <a:rPr lang="en-US" sz="2400">
                <a:latin typeface="Calibri"/>
              </a:rPr>
              <a:t> a </a:t>
            </a:r>
            <a:r>
              <a:rPr lang="en-US" sz="2400" err="1">
                <a:latin typeface="Calibri"/>
              </a:rPr>
              <a:t>opacidade</a:t>
            </a:r>
            <a:r>
              <a:rPr lang="en-US" sz="2400">
                <a:latin typeface="Calibri"/>
              </a:rPr>
              <a:t> dos </a:t>
            </a:r>
            <a:r>
              <a:rPr lang="en-US" sz="2400" err="1">
                <a:latin typeface="Calibri"/>
              </a:rPr>
              <a:t>modelos</a:t>
            </a:r>
            <a:r>
              <a:rPr lang="en-US" sz="2400">
                <a:latin typeface="Calibri"/>
              </a:rPr>
              <a:t> de ML e </a:t>
            </a:r>
            <a:r>
              <a:rPr lang="en-US" sz="2400" err="1">
                <a:latin typeface="Calibri"/>
              </a:rPr>
              <a:t>tornando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decisões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mais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confiáveis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em</a:t>
            </a:r>
            <a:r>
              <a:rPr lang="en-US" sz="2400">
                <a:latin typeface="Calibri"/>
              </a:rPr>
              <a:t> ambientes </a:t>
            </a:r>
            <a:r>
              <a:rPr lang="en-US" sz="2400" err="1">
                <a:latin typeface="Calibri"/>
              </a:rPr>
              <a:t>distribuídos</a:t>
            </a:r>
            <a:r>
              <a:rPr lang="en-US" sz="2400">
                <a:latin typeface="Calibri"/>
              </a:rPr>
              <a:t>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err="1">
                <a:latin typeface="Calibri"/>
              </a:rPr>
              <a:t>Buscam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equilibrar</a:t>
            </a:r>
            <a:r>
              <a:rPr lang="en-US" sz="2400" b="1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desempenho</a:t>
            </a:r>
            <a:r>
              <a:rPr lang="en-US" sz="2400" b="1">
                <a:latin typeface="Calibri"/>
              </a:rPr>
              <a:t>, </a:t>
            </a:r>
            <a:r>
              <a:rPr lang="en-US" sz="2400" b="1" err="1">
                <a:latin typeface="Calibri"/>
              </a:rPr>
              <a:t>interpretabilidade</a:t>
            </a:r>
            <a:r>
              <a:rPr lang="en-US" sz="2400" b="1">
                <a:latin typeface="Calibri"/>
              </a:rPr>
              <a:t> e </a:t>
            </a:r>
            <a:r>
              <a:rPr lang="en-US" sz="2400" b="1" err="1">
                <a:latin typeface="Calibri"/>
              </a:rPr>
              <a:t>eficiência</a:t>
            </a:r>
            <a:r>
              <a:rPr lang="en-US" sz="2400">
                <a:latin typeface="Calibri"/>
              </a:rPr>
              <a:t>, </a:t>
            </a:r>
            <a:r>
              <a:rPr lang="en-US" sz="2400" err="1">
                <a:latin typeface="Calibri"/>
              </a:rPr>
              <a:t>usando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técnicas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leves</a:t>
            </a:r>
            <a:r>
              <a:rPr lang="en-US" sz="2400">
                <a:latin typeface="Calibri"/>
              </a:rPr>
              <a:t> (</a:t>
            </a:r>
            <a:r>
              <a:rPr lang="en-US" sz="2400" err="1">
                <a:latin typeface="Calibri"/>
              </a:rPr>
              <a:t>como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redução</a:t>
            </a:r>
            <a:r>
              <a:rPr lang="en-US" sz="2400">
                <a:latin typeface="Calibri"/>
              </a:rPr>
              <a:t> de </a:t>
            </a:r>
            <a:r>
              <a:rPr lang="en-US" sz="2400" err="1">
                <a:latin typeface="Calibri"/>
              </a:rPr>
              <a:t>atributos</a:t>
            </a:r>
            <a:r>
              <a:rPr lang="en-US" sz="2400">
                <a:latin typeface="Calibri"/>
              </a:rPr>
              <a:t> + SHAP) a </a:t>
            </a:r>
            <a:r>
              <a:rPr lang="en-US" sz="2400" err="1">
                <a:latin typeface="Calibri"/>
              </a:rPr>
              <a:t>fim</a:t>
            </a:r>
            <a:r>
              <a:rPr lang="en-US" sz="2400">
                <a:latin typeface="Calibri"/>
              </a:rPr>
              <a:t> de </a:t>
            </a:r>
            <a:r>
              <a:rPr lang="en-US" sz="2400" err="1">
                <a:latin typeface="Calibri"/>
              </a:rPr>
              <a:t>viabilizar</a:t>
            </a:r>
            <a:r>
              <a:rPr lang="en-US" sz="2400">
                <a:latin typeface="Calibri"/>
              </a:rPr>
              <a:t> a </a:t>
            </a:r>
            <a:r>
              <a:rPr lang="en-US" sz="2400" err="1">
                <a:latin typeface="Calibri"/>
              </a:rPr>
              <a:t>defesa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em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dispositivos</a:t>
            </a:r>
            <a:r>
              <a:rPr lang="en-US" sz="2400">
                <a:latin typeface="Calibri"/>
              </a:rPr>
              <a:t> IoT com </a:t>
            </a:r>
            <a:r>
              <a:rPr lang="en-US" sz="2400" err="1">
                <a:latin typeface="Calibri"/>
              </a:rPr>
              <a:t>baixa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capacidade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computacional</a:t>
            </a:r>
            <a:r>
              <a:rPr lang="en-US" sz="2400">
                <a:latin typeface="Calibri"/>
              </a:rPr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27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94673A5-70BA-9943-17B1-08AFBD94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D386A8BB-B27D-FB22-65BE-9F744FD968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86064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9A3A9AB3-D181-AAA8-D6A0-FBBFE24651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11E75B-0C2B-92B9-6269-67FC75E9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643"/>
            <a:ext cx="10497015" cy="4556272"/>
          </a:xfrm>
        </p:spPr>
        <p:txBody>
          <a:bodyPr>
            <a:normAutofit/>
          </a:bodyPr>
          <a:lstStyle/>
          <a:p>
            <a:pPr marL="114300" indent="0"/>
            <a:endParaRPr lang="pt-BR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846727-2265-A5ED-D25D-F632AAAFEFEB}"/>
              </a:ext>
            </a:extLst>
          </p:cNvPr>
          <p:cNvSpPr txBox="1"/>
          <p:nvPr/>
        </p:nvSpPr>
        <p:spPr>
          <a:xfrm>
            <a:off x="834855" y="1183889"/>
            <a:ext cx="10522662" cy="73866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latin typeface="Calibri"/>
              </a:rPr>
              <a:t>Artigo</a:t>
            </a:r>
            <a:r>
              <a:rPr lang="en-US" sz="2000" b="1">
                <a:latin typeface="Calibri"/>
              </a:rPr>
              <a:t>: </a:t>
            </a:r>
            <a:r>
              <a:rPr lang="en-US" sz="2000" i="1">
                <a:latin typeface="Calibri"/>
              </a:rPr>
              <a:t>The Role of Software Engineering in Industry 4.0</a:t>
            </a:r>
            <a:r>
              <a:rPr lang="en-US" sz="2000">
                <a:latin typeface="Calibri"/>
              </a:rPr>
              <a:t> — Samir </a:t>
            </a:r>
            <a:r>
              <a:rPr lang="en-US" sz="2000" err="1">
                <a:latin typeface="Calibri"/>
              </a:rPr>
              <a:t>Lemeš</a:t>
            </a:r>
            <a:r>
              <a:rPr lang="en-US" sz="2000">
                <a:latin typeface="Calibri"/>
              </a:rPr>
              <a:t> (2020)</a:t>
            </a:r>
            <a:endParaRPr lang="pt-BR">
              <a:latin typeface="Calibri"/>
            </a:endParaRPr>
          </a:p>
          <a:p>
            <a:pPr algn="ctr"/>
            <a:endParaRPr lang="en-US" sz="2000">
              <a:latin typeface="Calibri"/>
            </a:endParaRPr>
          </a:p>
          <a:p>
            <a:r>
              <a:rPr lang="en-US" sz="2000" b="1" err="1">
                <a:latin typeface="Calibri"/>
              </a:rPr>
              <a:t>Objetivo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Destacar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papel</a:t>
            </a:r>
            <a:r>
              <a:rPr lang="en-US" sz="2000">
                <a:latin typeface="Calibri"/>
              </a:rPr>
              <a:t> central da </a:t>
            </a:r>
            <a:r>
              <a:rPr lang="en-US" sz="2000" err="1">
                <a:latin typeface="Calibri"/>
              </a:rPr>
              <a:t>engenharia</a:t>
            </a:r>
            <a:r>
              <a:rPr lang="en-US" sz="2000">
                <a:latin typeface="Calibri"/>
              </a:rPr>
              <a:t> de software </a:t>
            </a:r>
            <a:r>
              <a:rPr lang="en-US" sz="2000" err="1">
                <a:latin typeface="Calibri"/>
              </a:rPr>
              <a:t>como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elemento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habilitador</a:t>
            </a:r>
            <a:r>
              <a:rPr lang="en-US" sz="2000">
                <a:latin typeface="Calibri"/>
              </a:rPr>
              <a:t> da Indústria 4.0, </a:t>
            </a:r>
            <a:r>
              <a:rPr lang="en-US" sz="2000" err="1">
                <a:latin typeface="Calibri"/>
              </a:rPr>
              <a:t>evidenciando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sua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importância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conectividade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automação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análise</a:t>
            </a:r>
            <a:r>
              <a:rPr lang="en-US" sz="2000">
                <a:latin typeface="Calibri"/>
              </a:rPr>
              <a:t> de dados e </a:t>
            </a:r>
            <a:r>
              <a:rPr lang="en-US" sz="2000" err="1">
                <a:latin typeface="Calibri"/>
              </a:rPr>
              <a:t>segurança</a:t>
            </a:r>
            <a:r>
              <a:rPr lang="en-US" sz="2000">
                <a:latin typeface="Calibri"/>
              </a:rPr>
              <a:t>.</a:t>
            </a:r>
          </a:p>
          <a:p>
            <a:endParaRPr lang="en-US" sz="2000" b="1">
              <a:ea typeface="Calibri"/>
            </a:endParaRPr>
          </a:p>
          <a:p>
            <a:r>
              <a:rPr lang="en-US" sz="2000" b="1">
                <a:latin typeface="Calibri"/>
                <a:ea typeface="Calibri"/>
              </a:rPr>
              <a:t>Conjunto: </a:t>
            </a:r>
            <a:r>
              <a:rPr lang="en-US" sz="2000" err="1">
                <a:latin typeface="Calibri"/>
                <a:ea typeface="Calibri"/>
              </a:rPr>
              <a:t>Aborda</a:t>
            </a:r>
            <a:r>
              <a:rPr lang="en-US" sz="2000">
                <a:latin typeface="Calibri"/>
                <a:ea typeface="Calibri"/>
              </a:rPr>
              <a:t> a </a:t>
            </a:r>
            <a:r>
              <a:rPr lang="en-US" sz="2000" err="1">
                <a:latin typeface="Calibri"/>
                <a:ea typeface="Calibri"/>
              </a:rPr>
              <a:t>necessidade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projetar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sistemas</a:t>
            </a:r>
            <a:r>
              <a:rPr lang="en-US" sz="2000">
                <a:latin typeface="Calibri"/>
                <a:ea typeface="Calibri"/>
              </a:rPr>
              <a:t> IoT/CPS com </a:t>
            </a:r>
            <a:r>
              <a:rPr lang="en-US" sz="2000" err="1">
                <a:latin typeface="Calibri"/>
                <a:ea typeface="Calibri"/>
              </a:rPr>
              <a:t>segurança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desde</a:t>
            </a:r>
            <a:r>
              <a:rPr lang="en-US" sz="2000">
                <a:latin typeface="Calibri"/>
                <a:ea typeface="Calibri"/>
              </a:rPr>
              <a:t> a </a:t>
            </a:r>
            <a:r>
              <a:rPr lang="en-US" sz="2000" err="1">
                <a:latin typeface="Calibri"/>
                <a:ea typeface="Calibri"/>
              </a:rPr>
              <a:t>concepção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discute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desafios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integração</a:t>
            </a:r>
            <a:r>
              <a:rPr lang="en-US" sz="2000">
                <a:latin typeface="Calibri"/>
                <a:ea typeface="Calibri"/>
              </a:rPr>
              <a:t> com </a:t>
            </a:r>
            <a:r>
              <a:rPr lang="en-US" sz="2000" err="1">
                <a:latin typeface="Calibri"/>
                <a:ea typeface="Calibri"/>
              </a:rPr>
              <a:t>sistemas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legados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capacitação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técnica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escalabilidade</a:t>
            </a:r>
            <a:r>
              <a:rPr lang="en-US" sz="2000">
                <a:latin typeface="Calibri"/>
                <a:ea typeface="Calibri"/>
              </a:rPr>
              <a:t> de dados e a lacuna entre </a:t>
            </a:r>
            <a:r>
              <a:rPr lang="en-US" sz="2000" err="1">
                <a:latin typeface="Calibri"/>
                <a:ea typeface="Calibri"/>
              </a:rPr>
              <a:t>teoria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prática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em</a:t>
            </a:r>
            <a:r>
              <a:rPr lang="en-US" sz="2000">
                <a:latin typeface="Calibri"/>
                <a:ea typeface="Calibri"/>
              </a:rPr>
              <a:t> ambientes </a:t>
            </a:r>
            <a:r>
              <a:rPr lang="en-US" sz="2000" err="1">
                <a:latin typeface="Calibri"/>
                <a:ea typeface="Calibri"/>
              </a:rPr>
              <a:t>industriais</a:t>
            </a:r>
            <a:r>
              <a:rPr lang="en-US" sz="2000">
                <a:latin typeface="Calibri"/>
                <a:ea typeface="Calibri"/>
              </a:rPr>
              <a:t>.</a:t>
            </a:r>
            <a:endParaRPr lang="en-US">
              <a:latin typeface="Calibri"/>
            </a:endParaRPr>
          </a:p>
          <a:p>
            <a:endParaRPr lang="en-US" sz="2000" b="1">
              <a:latin typeface="Calibri"/>
              <a:ea typeface="Calibri"/>
            </a:endParaRPr>
          </a:p>
          <a:p>
            <a:r>
              <a:rPr lang="en-US" sz="2000" b="1" err="1">
                <a:latin typeface="Calibri"/>
                <a:ea typeface="Calibri"/>
              </a:rPr>
              <a:t>Resultados</a:t>
            </a:r>
            <a:r>
              <a:rPr lang="en-US" sz="2000" b="1">
                <a:latin typeface="Calibri"/>
                <a:ea typeface="Calibri"/>
              </a:rPr>
              <a:t>:</a:t>
            </a:r>
            <a:r>
              <a:rPr lang="en-US" sz="2000">
                <a:latin typeface="Calibri"/>
                <a:ea typeface="Calibri"/>
              </a:rPr>
              <a:t> O </a:t>
            </a:r>
            <a:r>
              <a:rPr lang="en-US" sz="2000" err="1">
                <a:latin typeface="Calibri"/>
                <a:ea typeface="Calibri"/>
              </a:rPr>
              <a:t>artigo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reforça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que</a:t>
            </a:r>
            <a:r>
              <a:rPr lang="en-US" sz="2000">
                <a:latin typeface="Calibri"/>
                <a:ea typeface="Calibri"/>
              </a:rPr>
              <a:t> a Indústria 4.0 </a:t>
            </a:r>
            <a:r>
              <a:rPr lang="en-US" sz="2000" err="1">
                <a:latin typeface="Calibri"/>
                <a:ea typeface="Calibri"/>
              </a:rPr>
              <a:t>depende</a:t>
            </a:r>
            <a:r>
              <a:rPr lang="en-US" sz="2000">
                <a:latin typeface="Calibri"/>
                <a:ea typeface="Calibri"/>
              </a:rPr>
              <a:t> de software </a:t>
            </a:r>
            <a:r>
              <a:rPr lang="en-US" sz="2000" err="1">
                <a:latin typeface="Calibri"/>
                <a:ea typeface="Calibri"/>
              </a:rPr>
              <a:t>robusto</a:t>
            </a:r>
            <a:r>
              <a:rPr lang="en-US" sz="2000">
                <a:latin typeface="Calibri"/>
                <a:ea typeface="Calibri"/>
              </a:rPr>
              <a:t> para ser </a:t>
            </a:r>
            <a:r>
              <a:rPr lang="en-US" sz="2000" err="1">
                <a:latin typeface="Calibri"/>
                <a:ea typeface="Calibri"/>
              </a:rPr>
              <a:t>viável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aponta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limitações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práticas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que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podem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comprometer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sua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implementação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destaca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que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segurança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confiabilidade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devem</a:t>
            </a:r>
            <a:r>
              <a:rPr lang="en-US" sz="2000">
                <a:latin typeface="Calibri"/>
                <a:ea typeface="Calibri"/>
              </a:rPr>
              <a:t> ser </a:t>
            </a:r>
            <a:r>
              <a:rPr lang="en-US" sz="2000" err="1">
                <a:latin typeface="Calibri"/>
                <a:ea typeface="Calibri"/>
              </a:rPr>
              <a:t>tratadas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como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requisitos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fundamentais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não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opcionais</a:t>
            </a:r>
            <a:r>
              <a:rPr lang="en-US" sz="2000">
                <a:latin typeface="Calibri"/>
                <a:ea typeface="Calibri"/>
              </a:rPr>
              <a:t>.</a:t>
            </a:r>
            <a:endParaRPr lang="en-US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800100" lvl="1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685800" lvl="1" indent="-228600">
              <a:buFont typeface="Courier New"/>
              <a:buChar char="o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ea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9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7267666-F853-B714-28CC-0B96FD3C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4E177A74-4EDE-4E27-F627-46EA0E9288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6223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E2CA519F-CA04-A50F-A111-630FB025E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2D5BED-C556-D8B4-9D49-D4405D81E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643"/>
            <a:ext cx="10497015" cy="4556272"/>
          </a:xfrm>
        </p:spPr>
        <p:txBody>
          <a:bodyPr>
            <a:normAutofit/>
          </a:bodyPr>
          <a:lstStyle/>
          <a:p>
            <a:pPr marL="114300" indent="0"/>
            <a:endParaRPr lang="pt-BR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B0F26CD-0D32-B684-FC7B-E35AFF207571}"/>
              </a:ext>
            </a:extLst>
          </p:cNvPr>
          <p:cNvSpPr txBox="1"/>
          <p:nvPr/>
        </p:nvSpPr>
        <p:spPr>
          <a:xfrm>
            <a:off x="833416" y="1368564"/>
            <a:ext cx="10502914" cy="7694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latin typeface="Calibri"/>
              </a:rPr>
              <a:t>Artigo</a:t>
            </a:r>
            <a:r>
              <a:rPr lang="en-US" sz="2000" b="1">
                <a:latin typeface="Calibri"/>
              </a:rPr>
              <a:t>: </a:t>
            </a:r>
            <a:r>
              <a:rPr lang="en-US" sz="2000" i="1">
                <a:latin typeface="Calibri"/>
              </a:rPr>
              <a:t>Improving IoT Security With Explainable AI: Quantitative Evaluation of Explainability for IoT Botnet Detection</a:t>
            </a:r>
            <a:r>
              <a:rPr lang="en-US" sz="2000">
                <a:latin typeface="Calibri"/>
              </a:rPr>
              <a:t> — </a:t>
            </a:r>
            <a:r>
              <a:rPr lang="en-US" sz="2000" err="1">
                <a:latin typeface="Calibri"/>
              </a:rPr>
              <a:t>Kalakoti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Bahsi</a:t>
            </a:r>
            <a:r>
              <a:rPr lang="en-US" sz="2000">
                <a:latin typeface="Calibri"/>
              </a:rPr>
              <a:t> e Nõmm (2024)</a:t>
            </a:r>
            <a:endParaRPr lang="pt-BR">
              <a:latin typeface="Calibri"/>
            </a:endParaRPr>
          </a:p>
          <a:p>
            <a:pPr algn="ctr"/>
            <a:endParaRPr lang="en-US" sz="2000">
              <a:latin typeface="Calibri"/>
            </a:endParaRPr>
          </a:p>
          <a:p>
            <a:r>
              <a:rPr lang="en-US" sz="2000" b="1" err="1">
                <a:latin typeface="Calibri"/>
              </a:rPr>
              <a:t>Objetivo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Avaliar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métodos</a:t>
            </a:r>
            <a:r>
              <a:rPr lang="en-US" sz="2000">
                <a:latin typeface="Calibri"/>
              </a:rPr>
              <a:t> de XAI (</a:t>
            </a:r>
            <a:r>
              <a:rPr lang="en-US" sz="2000" err="1">
                <a:latin typeface="Calibri"/>
              </a:rPr>
              <a:t>especialmente</a:t>
            </a:r>
            <a:r>
              <a:rPr lang="en-US" sz="2000">
                <a:latin typeface="Calibri"/>
              </a:rPr>
              <a:t> LIME e SHAP) </a:t>
            </a:r>
            <a:r>
              <a:rPr lang="en-US" sz="2000" err="1">
                <a:latin typeface="Calibri"/>
              </a:rPr>
              <a:t>aplicados</a:t>
            </a:r>
            <a:r>
              <a:rPr lang="en-US" sz="2000">
                <a:latin typeface="Calibri"/>
              </a:rPr>
              <a:t> à </a:t>
            </a:r>
            <a:r>
              <a:rPr lang="en-US" sz="2000" err="1">
                <a:latin typeface="Calibri"/>
              </a:rPr>
              <a:t>detecção</a:t>
            </a:r>
            <a:r>
              <a:rPr lang="en-US" sz="2000">
                <a:latin typeface="Calibri"/>
              </a:rPr>
              <a:t> de botnets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IoT, </a:t>
            </a:r>
            <a:r>
              <a:rPr lang="en-US" sz="2000" err="1">
                <a:latin typeface="Calibri"/>
              </a:rPr>
              <a:t>medindo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qualidade</a:t>
            </a:r>
            <a:r>
              <a:rPr lang="en-US" sz="2000">
                <a:latin typeface="Calibri"/>
              </a:rPr>
              <a:t> das </a:t>
            </a:r>
            <a:r>
              <a:rPr lang="en-US" sz="2000" err="1">
                <a:latin typeface="Calibri"/>
              </a:rPr>
              <a:t>explicações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sua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viabilidade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dispositivos</a:t>
            </a:r>
            <a:r>
              <a:rPr lang="en-US" sz="2000">
                <a:latin typeface="Calibri"/>
              </a:rPr>
              <a:t> </a:t>
            </a:r>
            <a:r>
              <a:rPr lang="en-US" sz="2000">
                <a:latin typeface="Calibri"/>
                <a:ea typeface="Calibri"/>
              </a:rPr>
              <a:t>com </a:t>
            </a:r>
            <a:r>
              <a:rPr lang="en-US" sz="2000" err="1">
                <a:latin typeface="Calibri"/>
                <a:ea typeface="Calibri"/>
              </a:rPr>
              <a:t>recursos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limitados</a:t>
            </a:r>
            <a:r>
              <a:rPr lang="en-US" sz="2000">
                <a:latin typeface="Calibri"/>
              </a:rPr>
              <a:t>.</a:t>
            </a:r>
            <a:endParaRPr lang="en-US">
              <a:latin typeface="Calibri"/>
            </a:endParaRPr>
          </a:p>
          <a:p>
            <a:endParaRPr lang="en-US" sz="2000">
              <a:ea typeface="Calibri"/>
            </a:endParaRPr>
          </a:p>
          <a:p>
            <a:r>
              <a:rPr lang="en-US" sz="2000" b="1">
                <a:latin typeface="Calibri"/>
                <a:ea typeface="Calibri"/>
              </a:rPr>
              <a:t>Conjunto: </a:t>
            </a:r>
            <a:r>
              <a:rPr lang="en-US" sz="2000" err="1">
                <a:latin typeface="Calibri"/>
                <a:ea typeface="Calibri"/>
              </a:rPr>
              <a:t>Inclui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modelos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classificação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treinados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em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diferentes</a:t>
            </a:r>
            <a:r>
              <a:rPr lang="en-US" sz="2000">
                <a:latin typeface="Calibri"/>
                <a:ea typeface="Calibri"/>
              </a:rPr>
              <a:t> datasets de </a:t>
            </a:r>
            <a:r>
              <a:rPr lang="en-US" sz="2000" err="1">
                <a:latin typeface="Calibri"/>
                <a:ea typeface="Calibri"/>
              </a:rPr>
              <a:t>ataques</a:t>
            </a:r>
            <a:r>
              <a:rPr lang="en-US" sz="2000">
                <a:latin typeface="Calibri"/>
                <a:ea typeface="Calibri"/>
              </a:rPr>
              <a:t> IoT, </a:t>
            </a:r>
            <a:r>
              <a:rPr lang="en-US" sz="2000" err="1">
                <a:latin typeface="Calibri"/>
                <a:ea typeface="Calibri"/>
              </a:rPr>
              <a:t>aplicação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técnicas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pós</a:t>
            </a:r>
            <a:r>
              <a:rPr lang="en-US" sz="2000">
                <a:latin typeface="Calibri"/>
                <a:ea typeface="Calibri"/>
              </a:rPr>
              <a:t>-hoc de </a:t>
            </a:r>
            <a:r>
              <a:rPr lang="en-US" sz="2000" err="1">
                <a:latin typeface="Calibri"/>
                <a:ea typeface="Calibri"/>
              </a:rPr>
              <a:t>interpretabilidade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uso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redução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atributos</a:t>
            </a:r>
            <a:r>
              <a:rPr lang="en-US" sz="2000">
                <a:latin typeface="Calibri"/>
                <a:ea typeface="Calibri"/>
              </a:rPr>
              <a:t> para </a:t>
            </a:r>
            <a:r>
              <a:rPr lang="en-US" sz="2000" err="1">
                <a:latin typeface="Calibri"/>
                <a:ea typeface="Calibri"/>
              </a:rPr>
              <a:t>otimização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computacional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em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dispositivos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restritos</a:t>
            </a:r>
            <a:r>
              <a:rPr lang="en-US" sz="2000">
                <a:latin typeface="Calibri"/>
                <a:ea typeface="Calibri"/>
              </a:rPr>
              <a:t>.</a:t>
            </a:r>
            <a:endParaRPr lang="en-US">
              <a:latin typeface="Calibri"/>
            </a:endParaRPr>
          </a:p>
          <a:p>
            <a:endParaRPr lang="en-US" sz="2000">
              <a:latin typeface="Calibri"/>
              <a:ea typeface="Calibri"/>
            </a:endParaRPr>
          </a:p>
          <a:p>
            <a:r>
              <a:rPr lang="en-US" sz="2000" b="1" err="1">
                <a:latin typeface="Calibri"/>
                <a:ea typeface="Calibri"/>
              </a:rPr>
              <a:t>Resultados</a:t>
            </a:r>
            <a:r>
              <a:rPr lang="en-US" sz="2000" b="1">
                <a:latin typeface="Calibri"/>
                <a:ea typeface="Calibri"/>
              </a:rPr>
              <a:t>: </a:t>
            </a:r>
            <a:r>
              <a:rPr lang="en-US" sz="2000">
                <a:latin typeface="Calibri"/>
                <a:ea typeface="Calibri"/>
              </a:rPr>
              <a:t>O SHAP </a:t>
            </a:r>
            <a:r>
              <a:rPr lang="en-US" sz="2000" err="1">
                <a:latin typeface="Calibri"/>
                <a:ea typeface="Calibri"/>
              </a:rPr>
              <a:t>apresentou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explicações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mais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fiéis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estáveis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coerentes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aumentando</a:t>
            </a:r>
            <a:r>
              <a:rPr lang="en-US" sz="2000">
                <a:latin typeface="Calibri"/>
                <a:ea typeface="Calibri"/>
              </a:rPr>
              <a:t> a </a:t>
            </a:r>
            <a:r>
              <a:rPr lang="en-US" sz="2000" err="1">
                <a:latin typeface="Calibri"/>
                <a:ea typeface="Calibri"/>
              </a:rPr>
              <a:t>transparência</a:t>
            </a:r>
            <a:r>
              <a:rPr lang="en-US" sz="2000">
                <a:latin typeface="Calibri"/>
                <a:ea typeface="Calibri"/>
              </a:rPr>
              <a:t> do </a:t>
            </a:r>
            <a:r>
              <a:rPr lang="en-US" sz="2000" err="1">
                <a:latin typeface="Calibri"/>
                <a:ea typeface="Calibri"/>
              </a:rPr>
              <a:t>modelo</a:t>
            </a:r>
            <a:r>
              <a:rPr lang="en-US" sz="2000">
                <a:latin typeface="Calibri"/>
                <a:ea typeface="Calibri"/>
              </a:rPr>
              <a:t>. O </a:t>
            </a:r>
            <a:r>
              <a:rPr lang="en-US" sz="2000" err="1">
                <a:latin typeface="Calibri"/>
                <a:ea typeface="Calibri"/>
              </a:rPr>
              <a:t>estudo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demonstra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que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combinar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desempenho</a:t>
            </a:r>
            <a:r>
              <a:rPr lang="en-US" sz="2000">
                <a:latin typeface="Calibri"/>
                <a:ea typeface="Calibri"/>
              </a:rPr>
              <a:t>, </a:t>
            </a:r>
            <a:r>
              <a:rPr lang="en-US" sz="2000" err="1">
                <a:latin typeface="Calibri"/>
                <a:ea typeface="Calibri"/>
              </a:rPr>
              <a:t>interpretabilidade</a:t>
            </a:r>
            <a:r>
              <a:rPr lang="en-US" sz="2000">
                <a:latin typeface="Calibri"/>
                <a:ea typeface="Calibri"/>
              </a:rPr>
              <a:t> e </a:t>
            </a:r>
            <a:r>
              <a:rPr lang="en-US" sz="2000" err="1">
                <a:latin typeface="Calibri"/>
                <a:ea typeface="Calibri"/>
              </a:rPr>
              <a:t>eficiência</a:t>
            </a:r>
            <a:r>
              <a:rPr lang="en-US" sz="2000">
                <a:latin typeface="Calibri"/>
                <a:ea typeface="Calibri"/>
              </a:rPr>
              <a:t> é </a:t>
            </a:r>
            <a:r>
              <a:rPr lang="en-US" sz="2000" err="1">
                <a:latin typeface="Calibri"/>
                <a:ea typeface="Calibri"/>
              </a:rPr>
              <a:t>essencial</a:t>
            </a:r>
            <a:r>
              <a:rPr lang="en-US" sz="2000">
                <a:latin typeface="Calibri"/>
                <a:ea typeface="Calibri"/>
              </a:rPr>
              <a:t> para </a:t>
            </a:r>
            <a:r>
              <a:rPr lang="en-US" sz="2000" err="1">
                <a:latin typeface="Calibri"/>
                <a:ea typeface="Calibri"/>
              </a:rPr>
              <a:t>soluções</a:t>
            </a:r>
            <a:r>
              <a:rPr lang="en-US" sz="2000">
                <a:latin typeface="Calibri"/>
                <a:ea typeface="Calibri"/>
              </a:rPr>
              <a:t> de </a:t>
            </a:r>
            <a:r>
              <a:rPr lang="en-US" sz="2000" err="1">
                <a:latin typeface="Calibri"/>
                <a:ea typeface="Calibri"/>
              </a:rPr>
              <a:t>segurança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realmente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viáveis</a:t>
            </a:r>
            <a:r>
              <a:rPr lang="en-US" sz="2000">
                <a:latin typeface="Calibri"/>
                <a:ea typeface="Calibri"/>
              </a:rPr>
              <a:t> </a:t>
            </a:r>
            <a:r>
              <a:rPr lang="en-US" sz="2000" err="1">
                <a:latin typeface="Calibri"/>
                <a:ea typeface="Calibri"/>
              </a:rPr>
              <a:t>em</a:t>
            </a:r>
            <a:r>
              <a:rPr lang="en-US" sz="2000">
                <a:latin typeface="Calibri"/>
                <a:ea typeface="Calibri"/>
              </a:rPr>
              <a:t> ambientes IoT.</a:t>
            </a:r>
            <a:endParaRPr lang="en-US">
              <a:latin typeface="Calibri"/>
            </a:endParaRPr>
          </a:p>
          <a:p>
            <a:pPr algn="ctr"/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800100" lvl="1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685800" lvl="1" indent="-228600">
              <a:buFont typeface="Courier New"/>
              <a:buChar char="o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ea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32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B139-0669-50C9-D728-1DD58D17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0DC9D-E629-DF86-6B77-D6BB228F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3357" y="2793365"/>
            <a:ext cx="6374408" cy="1269187"/>
          </a:xfrm>
        </p:spPr>
        <p:txBody>
          <a:bodyPr>
            <a:normAutofit/>
          </a:bodyPr>
          <a:lstStyle/>
          <a:p>
            <a:r>
              <a:rPr lang="pt-BR"/>
              <a:t>Proposta de projeto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285F69ED-A933-0EDC-CF19-E35D16B827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6475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601C0A9-6A70-F19C-9CCB-41F4DE3B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D207EA9-BB0B-74D9-089A-FF5EE6E385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838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Solução Tecnológica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3228FBCA-8C82-5D42-FD5D-D17B596D85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1996EF-7674-6DF6-A632-68A8A63BC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643"/>
            <a:ext cx="10497015" cy="4556272"/>
          </a:xfrm>
        </p:spPr>
        <p:txBody>
          <a:bodyPr>
            <a:normAutofit/>
          </a:bodyPr>
          <a:lstStyle/>
          <a:p>
            <a:pPr marL="114300" indent="0"/>
            <a:endParaRPr lang="pt-BR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100324-BABA-D748-F26D-574D088836AA}"/>
              </a:ext>
            </a:extLst>
          </p:cNvPr>
          <p:cNvSpPr txBox="1"/>
          <p:nvPr/>
        </p:nvSpPr>
        <p:spPr>
          <a:xfrm>
            <a:off x="834855" y="1304692"/>
            <a:ext cx="10624881" cy="7069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err="1">
                <a:latin typeface="Calibri"/>
              </a:rPr>
              <a:t>Desenvolveu</a:t>
            </a:r>
            <a:r>
              <a:rPr lang="en-US" sz="2000">
                <a:latin typeface="Calibri"/>
              </a:rPr>
              <a:t>-se </a:t>
            </a:r>
            <a:r>
              <a:rPr lang="en-US" sz="2000" err="1">
                <a:latin typeface="Calibri"/>
              </a:rPr>
              <a:t>uma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aplicação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utiliza</a:t>
            </a:r>
            <a:r>
              <a:rPr lang="en-US" sz="2000">
                <a:latin typeface="Calibri"/>
              </a:rPr>
              <a:t> de </a:t>
            </a:r>
            <a:r>
              <a:rPr lang="en-US" sz="2000" i="1">
                <a:latin typeface="Calibri"/>
              </a:rPr>
              <a:t>Machine Learning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realizar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detecção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desses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ataques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crescentes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sistemas</a:t>
            </a:r>
            <a:r>
              <a:rPr lang="en-US" sz="2000">
                <a:latin typeface="Calibri"/>
              </a:rPr>
              <a:t> de IoT. </a:t>
            </a: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err="1">
                <a:latin typeface="Calibri"/>
                <a:ea typeface="Calibri"/>
                <a:cs typeface="Calibri"/>
              </a:rPr>
              <a:t>Desafios</a:t>
            </a:r>
            <a:r>
              <a:rPr lang="en-US" sz="2000"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latin typeface="Calibri"/>
                <a:ea typeface="Calibri"/>
                <a:cs typeface="Calibri"/>
              </a:rPr>
              <a:t>baixa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interpretabilidade</a:t>
            </a:r>
            <a:r>
              <a:rPr lang="en-US" sz="2000">
                <a:latin typeface="Calibri"/>
                <a:ea typeface="Calibri"/>
                <a:cs typeface="Calibri"/>
              </a:rPr>
              <a:t> e </a:t>
            </a:r>
            <a:r>
              <a:rPr lang="en-US" sz="2000" err="1">
                <a:latin typeface="Calibri"/>
                <a:ea typeface="Calibri"/>
                <a:cs typeface="Calibri"/>
              </a:rPr>
              <a:t>falta</a:t>
            </a:r>
            <a:r>
              <a:rPr lang="en-US" sz="2000">
                <a:latin typeface="Calibri"/>
                <a:ea typeface="Calibri"/>
                <a:cs typeface="Calibri"/>
              </a:rPr>
              <a:t> de </a:t>
            </a:r>
            <a:r>
              <a:rPr lang="en-US" sz="2000" err="1">
                <a:latin typeface="Calibri"/>
                <a:ea typeface="Calibri"/>
                <a:cs typeface="Calibri"/>
              </a:rPr>
              <a:t>privacidade</a:t>
            </a:r>
            <a:r>
              <a:rPr lang="en-US" sz="2000">
                <a:latin typeface="Calibri"/>
                <a:ea typeface="Calibri"/>
                <a:cs typeface="Calibri"/>
              </a:rPr>
              <a:t>. Com </a:t>
            </a:r>
            <a:r>
              <a:rPr lang="en-US" sz="2000" err="1">
                <a:latin typeface="Calibri"/>
                <a:ea typeface="Calibri"/>
                <a:cs typeface="Calibri"/>
              </a:rPr>
              <a:t>isso</a:t>
            </a:r>
            <a:r>
              <a:rPr lang="en-US" sz="2000"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latin typeface="Calibri"/>
                <a:ea typeface="Calibri"/>
                <a:cs typeface="Calibri"/>
              </a:rPr>
              <a:t>utilizou</a:t>
            </a:r>
            <a:r>
              <a:rPr lang="en-US" sz="2000">
                <a:latin typeface="Calibri"/>
                <a:ea typeface="Calibri"/>
                <a:cs typeface="Calibri"/>
              </a:rPr>
              <a:t>-se as </a:t>
            </a:r>
            <a:r>
              <a:rPr lang="en-US" sz="2000" err="1">
                <a:latin typeface="Calibri"/>
                <a:ea typeface="Calibri"/>
                <a:cs typeface="Calibri"/>
              </a:rPr>
              <a:t>técnicas</a:t>
            </a:r>
            <a:r>
              <a:rPr lang="en-US" sz="2000">
                <a:latin typeface="Calibri"/>
                <a:ea typeface="Calibri"/>
                <a:cs typeface="Calibri"/>
              </a:rPr>
              <a:t> de:</a:t>
            </a:r>
          </a:p>
          <a:p>
            <a:pPr marL="228600" indent="-2286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000" i="1">
                <a:latin typeface="Calibri"/>
                <a:ea typeface="Calibri"/>
                <a:cs typeface="Calibri"/>
              </a:rPr>
              <a:t>Explainable AI </a:t>
            </a:r>
            <a:r>
              <a:rPr lang="en-US" sz="2000"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latin typeface="Calibri"/>
                <a:ea typeface="Calibri"/>
                <a:cs typeface="Calibri"/>
              </a:rPr>
              <a:t>aumentando</a:t>
            </a:r>
            <a:r>
              <a:rPr lang="en-US" sz="2000">
                <a:latin typeface="Calibri"/>
                <a:ea typeface="Calibri"/>
                <a:cs typeface="Calibri"/>
              </a:rPr>
              <a:t> a </a:t>
            </a:r>
            <a:r>
              <a:rPr lang="en-US" sz="2000" err="1">
                <a:latin typeface="Calibri"/>
                <a:ea typeface="Calibri"/>
                <a:cs typeface="Calibri"/>
              </a:rPr>
              <a:t>transparência</a:t>
            </a:r>
            <a:r>
              <a:rPr lang="en-US" sz="2000">
                <a:latin typeface="Calibri"/>
                <a:ea typeface="Calibri"/>
                <a:cs typeface="Calibri"/>
              </a:rPr>
              <a:t> e </a:t>
            </a:r>
            <a:r>
              <a:rPr lang="en-US" sz="2000" err="1">
                <a:latin typeface="Calibri"/>
                <a:ea typeface="Calibri"/>
                <a:cs typeface="Calibri"/>
              </a:rPr>
              <a:t>compreensão</a:t>
            </a:r>
            <a:r>
              <a:rPr lang="en-US" sz="2000">
                <a:latin typeface="Calibri"/>
                <a:ea typeface="Calibri"/>
                <a:cs typeface="Calibri"/>
              </a:rPr>
              <a:t> das </a:t>
            </a:r>
            <a:r>
              <a:rPr lang="en-US" sz="2000" err="1">
                <a:latin typeface="Calibri"/>
                <a:ea typeface="Calibri"/>
                <a:cs typeface="Calibri"/>
              </a:rPr>
              <a:t>decisões</a:t>
            </a:r>
            <a:r>
              <a:rPr lang="en-US" sz="2000">
                <a:latin typeface="Calibri"/>
                <a:ea typeface="Calibri"/>
                <a:cs typeface="Calibri"/>
              </a:rPr>
              <a:t> do </a:t>
            </a:r>
            <a:r>
              <a:rPr lang="en-US" sz="2000" err="1">
                <a:latin typeface="Calibri"/>
                <a:ea typeface="Calibri"/>
                <a:cs typeface="Calibri"/>
              </a:rPr>
              <a:t>modelo</a:t>
            </a:r>
            <a:r>
              <a:rPr lang="en-US" sz="2000">
                <a:latin typeface="Calibri"/>
                <a:ea typeface="Calibri"/>
                <a:cs typeface="Calibri"/>
              </a:rPr>
              <a:t>.</a:t>
            </a:r>
          </a:p>
          <a:p>
            <a:pPr marL="800100" lvl="1" indent="-342900">
              <a:buFont typeface="Arial"/>
              <a:buChar char="•"/>
            </a:pPr>
            <a:endParaRPr lang="en-US" sz="2000" i="1"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000" i="1">
                <a:latin typeface="Calibri"/>
                <a:ea typeface="Calibri"/>
                <a:cs typeface="Calibri"/>
              </a:rPr>
              <a:t>Federated Learning </a:t>
            </a:r>
            <a:r>
              <a:rPr lang="en-US" sz="2000"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latin typeface="Calibri"/>
                <a:ea typeface="Calibri"/>
                <a:cs typeface="Calibri"/>
              </a:rPr>
              <a:t>permitindo</a:t>
            </a:r>
            <a:r>
              <a:rPr lang="en-US" sz="2000">
                <a:latin typeface="Calibri"/>
                <a:ea typeface="Calibri"/>
                <a:cs typeface="Calibri"/>
              </a:rPr>
              <a:t> um </a:t>
            </a:r>
            <a:r>
              <a:rPr lang="en-US" sz="2000" err="1">
                <a:latin typeface="Calibri"/>
                <a:ea typeface="Calibri"/>
                <a:cs typeface="Calibri"/>
              </a:rPr>
              <a:t>treinamento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colaborativo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sem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compartilhamento</a:t>
            </a:r>
            <a:r>
              <a:rPr lang="en-US" sz="2000">
                <a:latin typeface="Calibri"/>
                <a:ea typeface="Calibri"/>
                <a:cs typeface="Calibri"/>
              </a:rPr>
              <a:t> de dados </a:t>
            </a:r>
            <a:r>
              <a:rPr lang="en-US" sz="2000" err="1">
                <a:latin typeface="Calibri"/>
                <a:ea typeface="Calibri"/>
                <a:cs typeface="Calibri"/>
              </a:rPr>
              <a:t>sensíveis</a:t>
            </a:r>
            <a:r>
              <a:rPr lang="en-US" sz="2000">
                <a:latin typeface="Calibri"/>
                <a:ea typeface="Calibri"/>
                <a:cs typeface="Calibri"/>
              </a:rPr>
              <a:t>.</a:t>
            </a:r>
          </a:p>
          <a:p>
            <a:pPr marL="800100" lvl="1" indent="-342900"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28600" indent="-228600">
              <a:buChar char="•"/>
            </a:pPr>
            <a:r>
              <a:rPr lang="en-US" sz="2000" err="1">
                <a:latin typeface="Calibri"/>
                <a:ea typeface="Calibri"/>
                <a:cs typeface="Calibri"/>
              </a:rPr>
              <a:t>Abordagem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proposta</a:t>
            </a:r>
            <a:r>
              <a:rPr lang="en-US" sz="2000"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latin typeface="Calibri"/>
                <a:ea typeface="Calibri"/>
                <a:cs typeface="Calibri"/>
              </a:rPr>
              <a:t>combinar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precisão</a:t>
            </a:r>
            <a:r>
              <a:rPr lang="en-US" sz="2000">
                <a:latin typeface="Calibri"/>
                <a:ea typeface="Calibri"/>
                <a:cs typeface="Calibri"/>
              </a:rPr>
              <a:t>, </a:t>
            </a:r>
            <a:r>
              <a:rPr lang="en-US" sz="2000" b="1" err="1">
                <a:latin typeface="Calibri"/>
                <a:ea typeface="Calibri"/>
                <a:cs typeface="Calibri"/>
              </a:rPr>
              <a:t>explicabilidade</a:t>
            </a:r>
            <a:r>
              <a:rPr lang="en-US" sz="2000">
                <a:latin typeface="Calibri"/>
                <a:ea typeface="Calibri"/>
                <a:cs typeface="Calibri"/>
              </a:rPr>
              <a:t> e </a:t>
            </a:r>
            <a:r>
              <a:rPr lang="en-US" sz="2000" b="1" err="1">
                <a:latin typeface="Calibri"/>
                <a:ea typeface="Calibri"/>
                <a:cs typeface="Calibri"/>
              </a:rPr>
              <a:t>descentralização</a:t>
            </a:r>
            <a:r>
              <a:rPr lang="en-US" sz="2000" b="1">
                <a:latin typeface="Calibri"/>
                <a:ea typeface="Calibri"/>
                <a:cs typeface="Calibri"/>
              </a:rPr>
              <a:t>.</a:t>
            </a:r>
            <a:endParaRPr lang="en-US" sz="2000" err="1">
              <a:latin typeface="Calibri"/>
              <a:ea typeface="Calibri"/>
              <a:cs typeface="Calibri"/>
            </a:endParaRPr>
          </a:p>
          <a:p>
            <a:pPr marL="228600" indent="-228600"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28600" indent="-228600">
              <a:buChar char="•"/>
            </a:pPr>
            <a:r>
              <a:rPr lang="en-US" sz="2000" err="1">
                <a:latin typeface="Calibri"/>
                <a:ea typeface="Calibri"/>
                <a:cs typeface="Calibri"/>
              </a:rPr>
              <a:t>Objetivo</a:t>
            </a:r>
            <a:r>
              <a:rPr lang="en-US" sz="2000">
                <a:latin typeface="Calibri"/>
                <a:ea typeface="Calibri"/>
                <a:cs typeface="Calibri"/>
              </a:rPr>
              <a:t>: </a:t>
            </a:r>
            <a:r>
              <a:rPr lang="en-US" sz="2000" err="1">
                <a:latin typeface="Calibri"/>
                <a:ea typeface="Calibri"/>
                <a:cs typeface="Calibri"/>
              </a:rPr>
              <a:t>tornar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sistemas</a:t>
            </a:r>
            <a:r>
              <a:rPr lang="en-US" sz="2000">
                <a:latin typeface="Calibri"/>
                <a:ea typeface="Calibri"/>
                <a:cs typeface="Calibri"/>
              </a:rPr>
              <a:t> IoT </a:t>
            </a:r>
            <a:r>
              <a:rPr lang="en-US" sz="2000" err="1">
                <a:latin typeface="Calibri"/>
                <a:ea typeface="Calibri"/>
                <a:cs typeface="Calibri"/>
              </a:rPr>
              <a:t>mais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seguros</a:t>
            </a:r>
            <a:r>
              <a:rPr lang="en-US" sz="2000"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latin typeface="Calibri"/>
                <a:ea typeface="Calibri"/>
                <a:cs typeface="Calibri"/>
              </a:rPr>
              <a:t>escaláveis</a:t>
            </a:r>
            <a:r>
              <a:rPr lang="en-US" sz="2000">
                <a:latin typeface="Calibri"/>
                <a:ea typeface="Calibri"/>
                <a:cs typeface="Calibri"/>
              </a:rPr>
              <a:t> e confiáveis.</a:t>
            </a:r>
            <a:endParaRPr lang="en-US" err="1"/>
          </a:p>
          <a:p>
            <a:pPr marL="800100" lvl="1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685800" lvl="1" indent="-228600">
              <a:buFont typeface="Courier New"/>
              <a:buChar char="o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ea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>
              <a:buFont typeface=""/>
              <a:buChar char="•"/>
            </a:pP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7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7E8F-1CD5-37D5-0BA9-7F4AA492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E3032-8D4C-30E1-AC8B-C47BEA17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677" y="2793365"/>
            <a:ext cx="6374408" cy="1269187"/>
          </a:xfrm>
        </p:spPr>
        <p:txBody>
          <a:bodyPr>
            <a:normAutofit/>
          </a:bodyPr>
          <a:lstStyle/>
          <a:p>
            <a:r>
              <a:rPr lang="pt-BR"/>
              <a:t>Metodologia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7E62F629-E10A-C74B-D86F-FEC667DCA1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421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2AA02-4255-C130-F03E-D40B2C3E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40" y="182245"/>
            <a:ext cx="10048240" cy="522923"/>
          </a:xfrm>
        </p:spPr>
        <p:txBody>
          <a:bodyPr>
            <a:normAutofit fontScale="90000"/>
          </a:bodyPr>
          <a:lstStyle/>
          <a:p>
            <a:r>
              <a:rPr lang="pt-BR" sz="3600"/>
              <a:t>Arquitetura do projeto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763D8F-03AE-9A2A-3C62-76CE7879D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3128" y="549423"/>
            <a:ext cx="6207760" cy="5072698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pt-BR" sz="1500" b="1"/>
              <a:t>Coleta distribuída de dados</a:t>
            </a:r>
            <a:endParaRPr lang="pt-BR" sz="1500"/>
          </a:p>
          <a:p>
            <a:pPr lvl="1" algn="just">
              <a:buFont typeface="Courier New"/>
              <a:buChar char="o"/>
            </a:pPr>
            <a:r>
              <a:rPr lang="pt-BR" sz="1500"/>
              <a:t>Cada dispositivo registra atividades normais e ataques cibernéticos.</a:t>
            </a:r>
          </a:p>
          <a:p>
            <a:pPr lvl="1" algn="just">
              <a:buFont typeface="Courier New"/>
              <a:buChar char="o"/>
            </a:pPr>
            <a:endParaRPr lang="pt-BR" sz="1500" b="1"/>
          </a:p>
          <a:p>
            <a:pPr algn="just"/>
            <a:r>
              <a:rPr lang="pt-BR" sz="1500" b="1"/>
              <a:t>Treinamento local de modelos</a:t>
            </a:r>
            <a:endParaRPr lang="pt-BR" sz="1500"/>
          </a:p>
          <a:p>
            <a:pPr lvl="1" algn="just">
              <a:buFont typeface="Courier New"/>
              <a:buChar char="o"/>
            </a:pPr>
            <a:r>
              <a:rPr lang="pt-BR" sz="1500"/>
              <a:t>Os dispositivos treinam modelos de ML individualmente, evitando o compartilhamento de dados.</a:t>
            </a:r>
          </a:p>
          <a:p>
            <a:pPr lvl="1" algn="just">
              <a:buFont typeface="Courier New"/>
              <a:buChar char="o"/>
            </a:pPr>
            <a:endParaRPr lang="pt-BR" sz="1500" b="1"/>
          </a:p>
          <a:p>
            <a:pPr algn="just"/>
            <a:r>
              <a:rPr lang="pt-BR" sz="1500" b="1"/>
              <a:t>Aprendizado Federado (FL)</a:t>
            </a:r>
          </a:p>
          <a:p>
            <a:pPr lvl="1" algn="just">
              <a:buFont typeface="Courier New"/>
              <a:buChar char="o"/>
            </a:pPr>
            <a:r>
              <a:rPr lang="pt-BR" sz="1500"/>
              <a:t>Os modelos locais são agregados para formar um modelo global mais robusto.</a:t>
            </a:r>
          </a:p>
          <a:p>
            <a:pPr lvl="1" algn="just">
              <a:buFont typeface="Courier New"/>
              <a:buChar char="o"/>
            </a:pPr>
            <a:endParaRPr lang="pt-BR" sz="1500" b="1"/>
          </a:p>
          <a:p>
            <a:pPr algn="just"/>
            <a:r>
              <a:rPr lang="pt-BR" sz="1500" b="1"/>
              <a:t>Otimização automática (</a:t>
            </a:r>
            <a:r>
              <a:rPr lang="pt-BR" sz="1500" b="1" err="1"/>
              <a:t>Optuna</a:t>
            </a:r>
            <a:r>
              <a:rPr lang="pt-BR" sz="1500" b="1"/>
              <a:t>)</a:t>
            </a:r>
            <a:endParaRPr lang="pt-BR" sz="1500"/>
          </a:p>
          <a:p>
            <a:pPr lvl="1" algn="just">
              <a:buFont typeface="Courier New"/>
              <a:buChar char="o"/>
            </a:pPr>
            <a:r>
              <a:rPr lang="pt-BR" sz="1500"/>
              <a:t>Busca dos melhores </a:t>
            </a:r>
            <a:r>
              <a:rPr lang="pt-BR" sz="1500" err="1"/>
              <a:t>hiperparâmetros</a:t>
            </a:r>
            <a:r>
              <a:rPr lang="pt-BR" sz="1500"/>
              <a:t> para acelerar experimentos e melhorar desempenho.</a:t>
            </a:r>
          </a:p>
          <a:p>
            <a:pPr lvl="1" algn="just">
              <a:buFont typeface="Courier New"/>
              <a:buChar char="o"/>
            </a:pPr>
            <a:endParaRPr lang="pt-BR" sz="1500" b="1"/>
          </a:p>
          <a:p>
            <a:pPr algn="just"/>
            <a:r>
              <a:rPr lang="pt-BR" sz="1500" b="1"/>
              <a:t>Avaliação do modelo</a:t>
            </a:r>
          </a:p>
          <a:p>
            <a:pPr lvl="1" algn="just">
              <a:buFont typeface="Courier New"/>
              <a:buChar char="o"/>
            </a:pPr>
            <a:r>
              <a:rPr lang="pt-BR" sz="1500"/>
              <a:t>Geração de métricas para validar a eficácia na detecção de ataques.</a:t>
            </a:r>
          </a:p>
          <a:p>
            <a:pPr lvl="1" algn="just">
              <a:buFont typeface="Courier New"/>
              <a:buChar char="o"/>
            </a:pPr>
            <a:endParaRPr lang="pt-BR" sz="1500" b="1"/>
          </a:p>
          <a:p>
            <a:pPr algn="just"/>
            <a:r>
              <a:rPr lang="pt-BR" sz="1500" b="1"/>
              <a:t>Aplicação de XAI (SHAP)</a:t>
            </a:r>
          </a:p>
          <a:p>
            <a:pPr lvl="1" algn="just">
              <a:buFont typeface="Courier New"/>
              <a:buChar char="o"/>
            </a:pPr>
            <a:r>
              <a:rPr lang="pt-BR" sz="1500"/>
              <a:t>Interpretação das decisões do modelo, destacando a importância de cada atributo.</a:t>
            </a:r>
          </a:p>
          <a:p>
            <a:endParaRPr lang="pt-BR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FD866195-AE10-1796-7D75-34C242EB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7"/>
          <a:stretch>
            <a:fillRect/>
          </a:stretch>
        </p:blipFill>
        <p:spPr>
          <a:xfrm>
            <a:off x="1001611" y="853440"/>
            <a:ext cx="4306137" cy="58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EE569-4269-3633-5270-44EDAD75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Dataset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27E7C8-79D4-BB53-5657-18464A46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28248"/>
            <a:ext cx="5425440" cy="3588019"/>
          </a:xfrm>
        </p:spPr>
        <p:txBody>
          <a:bodyPr>
            <a:normAutofit/>
          </a:bodyPr>
          <a:lstStyle/>
          <a:p>
            <a:r>
              <a:rPr lang="pt-BR" sz="2400"/>
              <a:t>CICIoT2023:</a:t>
            </a:r>
          </a:p>
          <a:p>
            <a:pPr lvl="1">
              <a:buFont typeface="Courier New"/>
              <a:buChar char="o"/>
            </a:pPr>
            <a:r>
              <a:rPr lang="pt-BR" sz="2000"/>
              <a:t>Tráfego capturado em uma rede IoT com 115 dispositivos reais;</a:t>
            </a:r>
          </a:p>
          <a:p>
            <a:pPr lvl="1">
              <a:buFont typeface="Courier New"/>
              <a:buChar char="o"/>
            </a:pPr>
            <a:r>
              <a:rPr lang="pt-BR" sz="2000"/>
              <a:t>33 tipos de ataque organizados em 7 categorias + tráfego benigno;</a:t>
            </a:r>
          </a:p>
          <a:p>
            <a:pPr lvl="1">
              <a:buFont typeface="Courier New"/>
              <a:buChar char="o"/>
            </a:pPr>
            <a:endParaRPr lang="pt-BR" sz="2000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1421740A-5A79-DA57-3124-D77F448D16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91B52287-0E9E-D3C2-E63C-BB2B9CCEB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457" y="1319926"/>
            <a:ext cx="5005070" cy="446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79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383E2-556D-9BAC-F59E-5D3B36C2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Dataset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47E603-DB67-BCD1-792E-D59C9E56B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445760" cy="4351338"/>
          </a:xfrm>
        </p:spPr>
        <p:txBody>
          <a:bodyPr>
            <a:normAutofit/>
          </a:bodyPr>
          <a:lstStyle/>
          <a:p>
            <a:r>
              <a:rPr lang="pt-BR" sz="2000"/>
              <a:t>Para este trabalho, foram filtrados quatro tipos de tráfego: </a:t>
            </a:r>
            <a:r>
              <a:rPr lang="pt-BR" sz="2000" b="1"/>
              <a:t>benigno, </a:t>
            </a:r>
            <a:r>
              <a:rPr lang="pt-BR" sz="2000" b="1" err="1"/>
              <a:t>DDoS</a:t>
            </a:r>
            <a:r>
              <a:rPr lang="pt-BR" sz="2000" b="1"/>
              <a:t>, </a:t>
            </a:r>
            <a:r>
              <a:rPr lang="pt-BR" sz="2000" b="1" err="1"/>
              <a:t>DoS</a:t>
            </a:r>
            <a:r>
              <a:rPr lang="pt-BR" sz="2000" b="1"/>
              <a:t> e reconhecimento</a:t>
            </a:r>
            <a:r>
              <a:rPr lang="pt-BR" sz="2000"/>
              <a:t>.</a:t>
            </a:r>
          </a:p>
          <a:p>
            <a:r>
              <a:rPr lang="pt-BR" sz="2000"/>
              <a:t>No total, foram utilizadas 664.743 amostras, com a seguinte distribuição: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710CDF-F291-47D7-DAC8-4741F9CE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6" b="233"/>
          <a:stretch>
            <a:fillRect/>
          </a:stretch>
        </p:blipFill>
        <p:spPr>
          <a:xfrm>
            <a:off x="6773862" y="1824990"/>
            <a:ext cx="3571953" cy="4345946"/>
          </a:xfrm>
          <a:prstGeom prst="rect">
            <a:avLst/>
          </a:prstGeom>
        </p:spPr>
      </p:pic>
      <p:pic>
        <p:nvPicPr>
          <p:cNvPr id="7" name="Imagem 6" descr="Tabela&#10;&#10;O conteúdo gerado por IA pode estar incorreto.">
            <a:extLst>
              <a:ext uri="{FF2B5EF4-FFF2-40B4-BE49-F238E27FC236}">
                <a16:creationId xmlns:a16="http://schemas.microsoft.com/office/drawing/2014/main" id="{D8B97D6F-D1F6-F243-9E54-963BC8879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449" y="3924968"/>
            <a:ext cx="1981200" cy="1238250"/>
          </a:xfrm>
          <a:prstGeom prst="rect">
            <a:avLst/>
          </a:prstGeom>
        </p:spPr>
      </p:pic>
      <p:pic>
        <p:nvPicPr>
          <p:cNvPr id="6" name="Google Shape;91;p13" descr="Logo">
            <a:extLst>
              <a:ext uri="{FF2B5EF4-FFF2-40B4-BE49-F238E27FC236}">
                <a16:creationId xmlns:a16="http://schemas.microsoft.com/office/drawing/2014/main" id="{5A11EB30-04EE-B591-BB03-576285D4AA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069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5C156-FE4A-2562-2A03-140D3D34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Dataset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5F8AB7-C5B3-47C9-F07C-D8BC9F9E3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074160" cy="4351338"/>
          </a:xfrm>
        </p:spPr>
        <p:txBody>
          <a:bodyPr/>
          <a:lstStyle/>
          <a:p>
            <a:r>
              <a:rPr lang="pt-BR" sz="2400"/>
              <a:t>Amostras correspondem a fluxos de comunicação processados;</a:t>
            </a:r>
            <a:endParaRPr lang="en-US" sz="2400"/>
          </a:p>
          <a:p>
            <a:r>
              <a:rPr lang="pt-BR" sz="2400"/>
              <a:t>Cada amostra é descrita por 39 features, derivadas de metadados, estatísticas temporais, comportamento de pacotes e informações de protocolo dos fluxos de comunicação.</a:t>
            </a:r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5C9E9B78-FB73-B3FD-DA0B-BFC47FC02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152" y="1822450"/>
            <a:ext cx="6073775" cy="4340860"/>
          </a:xfrm>
          <a:prstGeom prst="rect">
            <a:avLst/>
          </a:prstGeom>
        </p:spPr>
      </p:pic>
      <p:pic>
        <p:nvPicPr>
          <p:cNvPr id="7" name="Google Shape;91;p13" descr="Logo">
            <a:extLst>
              <a:ext uri="{FF2B5EF4-FFF2-40B4-BE49-F238E27FC236}">
                <a16:creationId xmlns:a16="http://schemas.microsoft.com/office/drawing/2014/main" id="{77C0933F-0B5D-ADD9-6D8B-AC618E3304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922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EB014-AD73-FF1C-46AF-D2D8EB63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5803"/>
          </a:xfrm>
        </p:spPr>
        <p:txBody>
          <a:bodyPr>
            <a:normAutofit/>
          </a:bodyPr>
          <a:lstStyle/>
          <a:p>
            <a:r>
              <a:rPr lang="pt-BR" sz="3600" err="1"/>
              <a:t>XGBoost</a:t>
            </a:r>
            <a:endParaRPr lang="pt-BR" sz="360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4E5A39-728D-DF0E-56AA-385A81DB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9017" y="1074358"/>
            <a:ext cx="5653825" cy="5038211"/>
          </a:xfrm>
        </p:spPr>
        <p:txBody>
          <a:bodyPr>
            <a:normAutofit fontScale="92500"/>
          </a:bodyPr>
          <a:lstStyle/>
          <a:p>
            <a:r>
              <a:rPr lang="pt-BR" sz="2400" b="1"/>
              <a:t>Modelo que utiliza ensemble e é baseado em árvores de decisão</a:t>
            </a:r>
            <a:r>
              <a:rPr lang="pt-BR" sz="2400"/>
              <a:t>, reconhecido pela alta eficiência, precisão e velocidade em tarefas de classificação e regressão.</a:t>
            </a:r>
          </a:p>
          <a:p>
            <a:endParaRPr lang="pt-BR" sz="2400"/>
          </a:p>
          <a:p>
            <a:r>
              <a:rPr lang="pt-BR" sz="2400" b="1"/>
              <a:t>Excelente desempenho com grandes volumes de dados</a:t>
            </a:r>
            <a:r>
              <a:rPr lang="pt-BR" sz="2400"/>
              <a:t>, incluindo cenários com atributos esparsos e estruturas complexas.</a:t>
            </a:r>
          </a:p>
          <a:p>
            <a:endParaRPr lang="pt-BR" sz="2400"/>
          </a:p>
          <a:p>
            <a:r>
              <a:rPr lang="pt-BR" sz="2400" b="1"/>
              <a:t>Robusto na captura de padrões não lineares</a:t>
            </a:r>
            <a:r>
              <a:rPr lang="pt-BR" sz="2400"/>
              <a:t>, tornando-se adequado para problemas desafiadores e de alta variabilidade.</a:t>
            </a:r>
          </a:p>
          <a:p>
            <a:endParaRPr lang="pt-BR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53280926-1FCE-982F-FDCA-A68286A909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03B0F039-5C99-BFA1-CF82-23A02A2FC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65" y="2325106"/>
            <a:ext cx="52863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94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2D2DF-F31E-DD98-10DA-5742C28F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1325563"/>
          </a:xfrm>
        </p:spPr>
        <p:txBody>
          <a:bodyPr/>
          <a:lstStyle/>
          <a:p>
            <a:r>
              <a:rPr lang="pt-BR" sz="3200"/>
              <a:t>Otimização de </a:t>
            </a:r>
            <a:r>
              <a:rPr lang="pt-BR" sz="3200" err="1"/>
              <a:t>hiperparâmetros</a:t>
            </a:r>
            <a:r>
              <a:rPr lang="pt-BR" sz="3200"/>
              <a:t> (</a:t>
            </a:r>
            <a:r>
              <a:rPr lang="pt-BR" sz="3200" err="1"/>
              <a:t>Optuna</a:t>
            </a:r>
            <a:r>
              <a:rPr lang="pt-BR" sz="3200"/>
              <a:t>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B1D27F-C78D-D401-377F-3379127BF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636" y="1095823"/>
            <a:ext cx="6941713" cy="5252858"/>
          </a:xfrm>
        </p:spPr>
        <p:txBody>
          <a:bodyPr>
            <a:normAutofit fontScale="85000" lnSpcReduction="20000"/>
          </a:bodyPr>
          <a:lstStyle/>
          <a:p>
            <a:r>
              <a:rPr lang="pt-BR" b="1"/>
              <a:t>Automação da busca de </a:t>
            </a:r>
            <a:r>
              <a:rPr lang="pt-BR" b="1" err="1"/>
              <a:t>hiperparâmetros</a:t>
            </a:r>
            <a:r>
              <a:rPr lang="pt-BR" b="1"/>
              <a:t>: </a:t>
            </a:r>
            <a:r>
              <a:rPr lang="pt-BR"/>
              <a:t>O </a:t>
            </a:r>
            <a:r>
              <a:rPr lang="pt-BR" err="1"/>
              <a:t>Optuna</a:t>
            </a:r>
            <a:r>
              <a:rPr lang="pt-BR"/>
              <a:t> foi usado para explorar automaticamente combinações de </a:t>
            </a:r>
            <a:r>
              <a:rPr lang="pt-BR" err="1"/>
              <a:t>hiperparâmetros</a:t>
            </a:r>
            <a:r>
              <a:rPr lang="pt-BR"/>
              <a:t> do </a:t>
            </a:r>
            <a:r>
              <a:rPr lang="pt-BR" err="1"/>
              <a:t>XGBoost</a:t>
            </a:r>
            <a:r>
              <a:rPr lang="pt-BR"/>
              <a:t>, acelerando a identificação das melhores configurações.</a:t>
            </a:r>
          </a:p>
          <a:p>
            <a:endParaRPr lang="pt-BR"/>
          </a:p>
          <a:p>
            <a:r>
              <a:rPr lang="pt-BR" b="1"/>
              <a:t>Avaliação eficiente com </a:t>
            </a:r>
            <a:r>
              <a:rPr lang="pt-BR" b="1" err="1"/>
              <a:t>pruning</a:t>
            </a:r>
            <a:r>
              <a:rPr lang="pt-BR" b="1"/>
              <a:t>: </a:t>
            </a:r>
            <a:r>
              <a:rPr lang="pt-BR"/>
              <a:t>O framework registrou métricas e interrompeu treinamentos pouco promissores, reduzindo tempo computacional e focando nas combinações mais promissoras.</a:t>
            </a:r>
          </a:p>
          <a:p>
            <a:endParaRPr lang="pt-BR"/>
          </a:p>
          <a:p>
            <a:r>
              <a:rPr lang="pt-BR" b="1"/>
              <a:t>Seleção ótima para o modelo federado: </a:t>
            </a:r>
            <a:r>
              <a:rPr lang="pt-BR"/>
              <a:t>A busca resultou nos </a:t>
            </a:r>
            <a:r>
              <a:rPr lang="pt-BR" err="1"/>
              <a:t>hiperparâmetros</a:t>
            </a:r>
            <a:r>
              <a:rPr lang="pt-BR"/>
              <a:t> que </a:t>
            </a:r>
            <a:r>
              <a:rPr lang="pt-BR" b="1"/>
              <a:t>minimizaram o </a:t>
            </a:r>
            <a:r>
              <a:rPr lang="pt-BR" b="1" i="1" err="1"/>
              <a:t>mlogloss</a:t>
            </a:r>
            <a:r>
              <a:rPr lang="pt-BR" b="1"/>
              <a:t> (0.8032)</a:t>
            </a:r>
            <a:r>
              <a:rPr lang="pt-BR"/>
              <a:t>, permitindo aplicar diretamente a melhor configuração ao modelo treinado no FL.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89E877BD-F194-93D5-36AA-D1C1052588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71841" y="5887926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45600716-2EA7-42CB-259B-E1F60043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8" t="3865" r="2519" b="3204"/>
          <a:stretch>
            <a:fillRect/>
          </a:stretch>
        </p:blipFill>
        <p:spPr>
          <a:xfrm>
            <a:off x="1000177" y="1095440"/>
            <a:ext cx="3994590" cy="2066084"/>
          </a:xfrm>
          <a:prstGeom prst="rect">
            <a:avLst/>
          </a:prstGeom>
        </p:spPr>
      </p:pic>
      <p:pic>
        <p:nvPicPr>
          <p:cNvPr id="7" name="Imagem 6" descr="Tabela&#10;&#10;O conteúdo gerado por IA pode estar incorreto.">
            <a:extLst>
              <a:ext uri="{FF2B5EF4-FFF2-40B4-BE49-F238E27FC236}">
                <a16:creationId xmlns:a16="http://schemas.microsoft.com/office/drawing/2014/main" id="{00934DA1-3CCC-303F-6961-20E99E001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6" t="1818" r="2236" b="4545"/>
          <a:stretch>
            <a:fillRect/>
          </a:stretch>
        </p:blipFill>
        <p:spPr>
          <a:xfrm>
            <a:off x="1386759" y="3363801"/>
            <a:ext cx="3204131" cy="22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80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35EAD-2AC8-ED17-B1E1-6C5EDF75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50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/>
              <a:t>Aprendizado Federado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A1508F-D699-89F5-3FF2-78AB171FA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102" y="1278273"/>
            <a:ext cx="7725176" cy="4834296"/>
          </a:xfrm>
        </p:spPr>
        <p:txBody>
          <a:bodyPr>
            <a:normAutofit fontScale="92500"/>
          </a:bodyPr>
          <a:lstStyle/>
          <a:p>
            <a:r>
              <a:rPr lang="pt-BR" b="1"/>
              <a:t>Treinamento distribuído e descentralizado: </a:t>
            </a:r>
            <a:r>
              <a:rPr lang="pt-BR"/>
              <a:t>Os modelos são treinados localmente em cada dispositivo, aproveitando dados que permanecem privados e sem necessidade de centralização.</a:t>
            </a:r>
          </a:p>
          <a:p>
            <a:r>
              <a:rPr lang="pt-BR" b="1"/>
              <a:t>Redução de comunicação e maior eficiência: </a:t>
            </a:r>
            <a:r>
              <a:rPr lang="pt-BR"/>
              <a:t>O FL diminui o tráfego de dados e permite atualizações contínuas do modelo, tornando o processo mais escalável e robusto.</a:t>
            </a:r>
          </a:p>
          <a:p>
            <a:r>
              <a:rPr lang="pt-BR" b="1"/>
              <a:t>Configuração colaborativa do ambiente: </a:t>
            </a:r>
            <a:r>
              <a:rPr lang="pt-BR"/>
              <a:t>O sistema conta com múltiplos clientes (4), cada um realizando rounds locais (5) dentro de 50 rounds globais, integrando conhecimento distribuído.</a:t>
            </a:r>
          </a:p>
          <a:p>
            <a:endParaRPr lang="pt-BR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C2FE1EDE-F8D7-FF64-650B-103140D0D0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4A02D209-C273-05C8-00E8-414D49A1B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525" b="877"/>
          <a:stretch>
            <a:fillRect/>
          </a:stretch>
        </p:blipFill>
        <p:spPr>
          <a:xfrm>
            <a:off x="656286" y="2551090"/>
            <a:ext cx="3598471" cy="14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7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C03C5-A4AF-A666-4D3D-AE10A169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IA Explicável (XAI)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7DAE13-A933-46DF-D875-107508115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6268"/>
            <a:ext cx="5181600" cy="4351338"/>
          </a:xfrm>
        </p:spPr>
        <p:txBody>
          <a:bodyPr>
            <a:normAutofit/>
          </a:bodyPr>
          <a:lstStyle/>
          <a:p>
            <a:r>
              <a:rPr lang="pt-BR" sz="2000"/>
              <a:t>Modelos de aprendizado de máquina estão cada vez mais complexos, o que nos leva ao problema da "caixa preta".</a:t>
            </a:r>
          </a:p>
          <a:p>
            <a:r>
              <a:rPr lang="pt-BR" sz="2000"/>
              <a:t>Em aplicações sensíveis, a </a:t>
            </a:r>
            <a:r>
              <a:rPr lang="pt-BR" sz="2000" b="1"/>
              <a:t>interpretação das decisões do modelo</a:t>
            </a:r>
            <a:r>
              <a:rPr lang="pt-BR" sz="2000"/>
              <a:t> é requisito para garantir a confiabilidade do sistema.</a:t>
            </a:r>
          </a:p>
          <a:p>
            <a:r>
              <a:rPr lang="pt-BR" sz="2000"/>
              <a:t>Abordagens de XAI permitem </a:t>
            </a:r>
            <a:r>
              <a:rPr lang="pt-BR" sz="2000" b="1"/>
              <a:t>transparência</a:t>
            </a:r>
            <a:r>
              <a:rPr lang="pt-BR" sz="2000"/>
              <a:t> sobre os mecanismos internos e/ou justificativas locais para cada predição.</a:t>
            </a:r>
          </a:p>
          <a:p>
            <a:r>
              <a:rPr lang="pt-BR" sz="2000"/>
              <a:t>Isso pode ajudar usuários especialistas, usuários finais, desenvolvedores e pesquisadores, auditoria e compliance, etc.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C907C368-F0E0-A260-A231-5AC802113F7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1A571EE5-2DCA-44E8-D38E-5198F0946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2" r="613"/>
          <a:stretch>
            <a:fillRect/>
          </a:stretch>
        </p:blipFill>
        <p:spPr>
          <a:xfrm>
            <a:off x="6816121" y="1850785"/>
            <a:ext cx="4191492" cy="63674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4E0ACB-05D7-43E7-AA29-0D927AB83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87" y="3702382"/>
            <a:ext cx="4888936" cy="166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25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C22A-4846-EF1A-A94C-E11C318B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err="1"/>
              <a:t>Shapley</a:t>
            </a:r>
            <a:r>
              <a:rPr lang="pt-BR" sz="3600"/>
              <a:t> </a:t>
            </a:r>
            <a:r>
              <a:rPr lang="pt-BR" sz="3600" err="1"/>
              <a:t>Additive</a:t>
            </a:r>
            <a:r>
              <a:rPr lang="pt-BR" sz="3600"/>
              <a:t> </a:t>
            </a:r>
            <a:r>
              <a:rPr lang="pt-BR" sz="3600" err="1"/>
              <a:t>Explanations</a:t>
            </a:r>
            <a:r>
              <a:rPr lang="pt-BR" sz="3600"/>
              <a:t> (SHAP)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BA3FA2-E54E-85F5-736F-FBE8C6F41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8742"/>
            <a:ext cx="6096000" cy="4578949"/>
          </a:xfrm>
        </p:spPr>
        <p:txBody>
          <a:bodyPr>
            <a:normAutofit/>
          </a:bodyPr>
          <a:lstStyle/>
          <a:p>
            <a:r>
              <a:rPr lang="pt-BR" sz="2000" b="1"/>
              <a:t>SHAP</a:t>
            </a:r>
            <a:r>
              <a:rPr lang="pt-BR" sz="2000"/>
              <a:t> é uma abordagem baseada em </a:t>
            </a:r>
            <a:r>
              <a:rPr lang="pt-BR" sz="2000" b="1"/>
              <a:t>Teoria dos Jogos</a:t>
            </a:r>
            <a:r>
              <a:rPr lang="pt-BR" sz="2000"/>
              <a:t> para explicar a saída de qualquer modelo de </a:t>
            </a:r>
            <a:r>
              <a:rPr lang="pt-BR" sz="2000" i="1"/>
              <a:t>Machine Learning</a:t>
            </a:r>
            <a:r>
              <a:rPr lang="pt-BR" sz="2000"/>
              <a:t>.</a:t>
            </a:r>
          </a:p>
          <a:p>
            <a:r>
              <a:rPr lang="pt-BR" sz="2000"/>
              <a:t>A técnica atribui um </a:t>
            </a:r>
            <a:r>
              <a:rPr lang="pt-BR" sz="2000" b="1"/>
              <a:t>valor de importância</a:t>
            </a:r>
            <a:r>
              <a:rPr lang="pt-BR" sz="2000"/>
              <a:t> (valor de </a:t>
            </a:r>
            <a:r>
              <a:rPr lang="pt-BR" sz="2000" err="1"/>
              <a:t>Shapley</a:t>
            </a:r>
            <a:r>
              <a:rPr lang="pt-BR" sz="2000"/>
              <a:t>) a cada </a:t>
            </a:r>
            <a:r>
              <a:rPr lang="pt-BR" sz="2000" i="1"/>
              <a:t>feature</a:t>
            </a:r>
            <a:r>
              <a:rPr lang="pt-BR" sz="2000"/>
              <a:t>, tratando o problema de predição como um </a:t>
            </a:r>
            <a:r>
              <a:rPr lang="pt-BR" sz="2000" b="1"/>
              <a:t>jogo cooperativo</a:t>
            </a:r>
            <a:r>
              <a:rPr lang="pt-BR" sz="2000"/>
              <a:t>, no qual as </a:t>
            </a:r>
            <a:r>
              <a:rPr lang="pt-BR" sz="2000" i="1"/>
              <a:t>features</a:t>
            </a:r>
            <a:r>
              <a:rPr lang="pt-BR" sz="2000"/>
              <a:t> são os jogadores e a predição é o prêmio.</a:t>
            </a:r>
          </a:p>
          <a:p>
            <a:r>
              <a:rPr lang="pt-BR" sz="2000"/>
              <a:t>O objetivo é </a:t>
            </a:r>
            <a:r>
              <a:rPr lang="pt-BR" sz="2000" b="1"/>
              <a:t>atribuir de forma justa</a:t>
            </a:r>
            <a:r>
              <a:rPr lang="pt-BR" sz="2000"/>
              <a:t> a contribuição de cada </a:t>
            </a:r>
            <a:r>
              <a:rPr lang="pt-BR" sz="2000" i="1"/>
              <a:t>feature</a:t>
            </a:r>
            <a:r>
              <a:rPr lang="pt-BR" sz="2000"/>
              <a:t> para a predição, oferecendo uma interpretação consistente de como cada variável influencia a decisão do modelo.</a:t>
            </a:r>
          </a:p>
          <a:p>
            <a:r>
              <a:rPr lang="pt-BR" sz="2000"/>
              <a:t>Considerado um dos métodos mais </a:t>
            </a:r>
            <a:r>
              <a:rPr lang="pt-BR" sz="2000" b="1"/>
              <a:t>teoricamente fundamentados</a:t>
            </a:r>
            <a:r>
              <a:rPr lang="pt-BR" sz="2000"/>
              <a:t> e </a:t>
            </a:r>
            <a:r>
              <a:rPr lang="pt-BR" sz="2000" b="1"/>
              <a:t>estáveis</a:t>
            </a:r>
            <a:r>
              <a:rPr lang="pt-BR" sz="2000"/>
              <a:t> para explicabilidade local e global.</a:t>
            </a:r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87396B41-7C1B-75FF-8939-3EB328DD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70" r="1293" b="82420"/>
          <a:stretch>
            <a:fillRect/>
          </a:stretch>
        </p:blipFill>
        <p:spPr>
          <a:xfrm>
            <a:off x="7319647" y="3585845"/>
            <a:ext cx="2328598" cy="822935"/>
          </a:xfrm>
          <a:prstGeom prst="rect">
            <a:avLst/>
          </a:prstGeom>
        </p:spPr>
      </p:pic>
      <p:pic>
        <p:nvPicPr>
          <p:cNvPr id="4" name="Imagem 3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43242489-C8AE-627C-18E3-053A467D5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0" y="3477578"/>
            <a:ext cx="988060" cy="10407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791C97-6372-820A-7F4C-9E466D110C03}"/>
              </a:ext>
            </a:extLst>
          </p:cNvPr>
          <p:cNvSpPr txBox="1"/>
          <p:nvPr/>
        </p:nvSpPr>
        <p:spPr>
          <a:xfrm>
            <a:off x="10647680" y="4521199"/>
            <a:ext cx="4470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/>
              <a:t>$$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230583-29C7-9362-8E07-5B9F5505030A}"/>
              </a:ext>
            </a:extLst>
          </p:cNvPr>
          <p:cNvSpPr txBox="1"/>
          <p:nvPr/>
        </p:nvSpPr>
        <p:spPr>
          <a:xfrm>
            <a:off x="9845040" y="3850638"/>
            <a:ext cx="4470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/>
              <a:t>=</a:t>
            </a:r>
          </a:p>
        </p:txBody>
      </p:sp>
      <p:pic>
        <p:nvPicPr>
          <p:cNvPr id="9" name="Google Shape;91;p13" descr="Logo">
            <a:extLst>
              <a:ext uri="{FF2B5EF4-FFF2-40B4-BE49-F238E27FC236}">
                <a16:creationId xmlns:a16="http://schemas.microsoft.com/office/drawing/2014/main" id="{8C6E6FB0-7C65-C102-6D5A-582BCB90A8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8759" b="28871"/>
          <a:stretch/>
        </p:blipFill>
        <p:spPr>
          <a:xfrm>
            <a:off x="393306" y="5899355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1696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CE27-3EB7-A6F6-1A66-6B046EA0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63E55-6203-C8CE-B7D6-7A9A5D8D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677" y="2793365"/>
            <a:ext cx="6374408" cy="1269187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FFC35F7C-C4F1-A82F-66C1-900D35869F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1522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5AEA9-F274-492B-D40E-F4F856C0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4671" cy="799420"/>
          </a:xfrm>
        </p:spPr>
        <p:txBody>
          <a:bodyPr/>
          <a:lstStyle/>
          <a:p>
            <a:r>
              <a:rPr lang="pt-BR" sz="3600"/>
              <a:t>Classificação </a:t>
            </a:r>
            <a:r>
              <a:rPr lang="pt-BR" sz="3600" err="1"/>
              <a:t>multiclasses</a:t>
            </a:r>
            <a:endParaRPr lang="pt-BR" sz="360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8D80D2-2183-D82F-D734-DB3BDEE70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196"/>
            <a:ext cx="5598885" cy="4527325"/>
          </a:xfrm>
        </p:spPr>
        <p:txBody>
          <a:bodyPr>
            <a:normAutofit lnSpcReduction="10000"/>
          </a:bodyPr>
          <a:lstStyle/>
          <a:p>
            <a:r>
              <a:rPr lang="pt-BR" sz="2000"/>
              <a:t>As classes  0 e 1 tiveram desempenho alto, com F1-score de 87% e 91%, respectivamente. Isso indica que o modelo consegue identificar bem tráfego benigno e ataques de </a:t>
            </a:r>
            <a:r>
              <a:rPr lang="pt-BR" sz="2000" err="1"/>
              <a:t>DDoS</a:t>
            </a:r>
            <a:r>
              <a:rPr lang="pt-BR" sz="2000"/>
              <a:t>.</a:t>
            </a:r>
          </a:p>
          <a:p>
            <a:r>
              <a:rPr lang="pt-BR" sz="2000"/>
              <a:t>A classe 3 apresentou desempenho razoável, com F1-score de 79%. </a:t>
            </a:r>
          </a:p>
          <a:p>
            <a:r>
              <a:rPr lang="pt-BR" sz="2000"/>
              <a:t>Já a classe 2 apresentou desempenho inferior, com F1-score de 78% e recall de 36%, indicando a presença de muitos falsos negativos.</a:t>
            </a:r>
          </a:p>
          <a:p>
            <a:r>
              <a:rPr lang="pt-BR" sz="2000"/>
              <a:t>A acurácia ficou em 85%, o que representa um desempenho razoável para </a:t>
            </a:r>
            <a:r>
              <a:rPr lang="pt-BR" sz="2000" err="1"/>
              <a:t>multiclasses</a:t>
            </a:r>
            <a:r>
              <a:rPr lang="pt-BR" sz="2000"/>
              <a:t>.</a:t>
            </a:r>
          </a:p>
          <a:p>
            <a:r>
              <a:rPr lang="pt-BR" sz="2000"/>
              <a:t>Vale lembrar que as classes 1 e 2 são as classes majoritárias e as classes 0 e 3 são as classes minoritárias no </a:t>
            </a:r>
            <a:r>
              <a:rPr lang="pt-BR" sz="2000" err="1"/>
              <a:t>dataset</a:t>
            </a:r>
            <a:r>
              <a:rPr lang="pt-BR" sz="2000"/>
              <a:t>.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ED8CF791-FCA2-1FAB-8E1D-720A3971D4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4B1D97A2-8344-907E-BBE7-BE38A2B1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2" b="-516"/>
          <a:stretch>
            <a:fillRect/>
          </a:stretch>
        </p:blipFill>
        <p:spPr>
          <a:xfrm>
            <a:off x="6545308" y="2289674"/>
            <a:ext cx="5035587" cy="18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46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0808D-02D8-68E9-8715-20ABA9CC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Classificação </a:t>
            </a:r>
            <a:r>
              <a:rPr lang="pt-BR" sz="3600" err="1"/>
              <a:t>multiclasses</a:t>
            </a:r>
            <a:endParaRPr lang="pt-BR" sz="3600"/>
          </a:p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DE182D-978D-FCD6-FDD4-FBEAEB079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6911"/>
            <a:ext cx="5181600" cy="4931910"/>
          </a:xfrm>
        </p:spPr>
        <p:txBody>
          <a:bodyPr>
            <a:normAutofit/>
          </a:bodyPr>
          <a:lstStyle/>
          <a:p>
            <a:r>
              <a:rPr lang="pt-BR" sz="2000"/>
              <a:t>Através da matriz de confusão, é possível perceber que praticamente todos os falsos negativos para amostras de </a:t>
            </a:r>
            <a:r>
              <a:rPr lang="pt-BR" sz="2000" err="1"/>
              <a:t>DoS</a:t>
            </a:r>
            <a:r>
              <a:rPr lang="pt-BR" sz="2000"/>
              <a:t> são confundidos com tráfego </a:t>
            </a:r>
            <a:r>
              <a:rPr lang="pt-BR" sz="2000" err="1"/>
              <a:t>DDoS</a:t>
            </a:r>
            <a:r>
              <a:rPr lang="pt-BR" sz="2000"/>
              <a:t>, o que é compreensível devido a natureza similar de ambos ataques.</a:t>
            </a:r>
          </a:p>
          <a:p>
            <a:r>
              <a:rPr lang="pt-BR" sz="2000"/>
              <a:t>Da mesma forma, os falsos negativos para amostras de </a:t>
            </a:r>
            <a:r>
              <a:rPr lang="pt-BR" sz="2000" err="1"/>
              <a:t>DDoS</a:t>
            </a:r>
            <a:r>
              <a:rPr lang="pt-BR" sz="2000"/>
              <a:t> são todos confundidos com tráfego </a:t>
            </a:r>
            <a:r>
              <a:rPr lang="pt-BR" sz="2000" err="1"/>
              <a:t>DoS</a:t>
            </a:r>
            <a:r>
              <a:rPr lang="pt-BR" sz="2000"/>
              <a:t>, embora em uma quantidade relativamente pequena.</a:t>
            </a:r>
          </a:p>
          <a:p>
            <a:r>
              <a:rPr lang="pt-BR" sz="2000"/>
              <a:t>Além disso, há algumas amostras de tráfego benigno que são confundidas com ataques de reconhecimento e vice-versa.</a:t>
            </a:r>
          </a:p>
          <a:p>
            <a:r>
              <a:rPr lang="pt-BR" sz="2000"/>
              <a:t>Por fim, não há nenhuma confusão entre tráfego benigno e ataques </a:t>
            </a:r>
            <a:r>
              <a:rPr lang="pt-BR" sz="2000" err="1"/>
              <a:t>DDoS</a:t>
            </a:r>
            <a:r>
              <a:rPr lang="pt-BR" sz="2000"/>
              <a:t> e </a:t>
            </a:r>
            <a:r>
              <a:rPr lang="pt-BR" sz="2000" err="1"/>
              <a:t>DoS</a:t>
            </a:r>
            <a:r>
              <a:rPr lang="pt-BR" sz="2000"/>
              <a:t>.</a:t>
            </a:r>
          </a:p>
        </p:txBody>
      </p:sp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7ADA4DCD-53E4-7EE8-6133-52214B7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089" y="1523093"/>
            <a:ext cx="5354320" cy="434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43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2178-9032-4F27-5A78-24893976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Classificação binária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4C3D9E-31B8-5A2B-88E1-BBA4AD6C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14624"/>
            <a:ext cx="5181600" cy="3398840"/>
          </a:xfrm>
        </p:spPr>
        <p:txBody>
          <a:bodyPr>
            <a:normAutofit/>
          </a:bodyPr>
          <a:lstStyle/>
          <a:p>
            <a:r>
              <a:rPr lang="pt-BR" sz="2000"/>
              <a:t>O desempenho é substancialmente superior, com acurácia de 99% e F1-score de 100% e 87% para as classes </a:t>
            </a:r>
            <a:r>
              <a:rPr lang="pt-BR" sz="2000" err="1"/>
              <a:t>attack</a:t>
            </a:r>
            <a:r>
              <a:rPr lang="pt-BR" sz="2000"/>
              <a:t> e </a:t>
            </a:r>
            <a:r>
              <a:rPr lang="pt-BR" sz="2000" err="1"/>
              <a:t>benign</a:t>
            </a:r>
            <a:r>
              <a:rPr lang="pt-BR" sz="2000"/>
              <a:t>, respectivamente.</a:t>
            </a:r>
          </a:p>
          <a:p>
            <a:endParaRPr lang="pt-BR" sz="2000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BD91A432-0D96-156E-B968-D49E09FC96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41ACE5D2-DFAF-E1DA-6A51-B20508DE1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12" y="2714625"/>
            <a:ext cx="53625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29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4D28-38CD-DD86-90CF-FD9A178E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378AD-8BDF-083E-FC9A-F9F55A18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Classificação binária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80E4A1-EC4D-53CA-E770-F73D46AFE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/>
              <a:t>A matriz de confusão evidencia que, ao agrupar todos os ataques em uma única categoria, a confusão entre classes é reduzida, uma vez que os erros entre diferentes tipos de ataques deixam de aparecer.</a:t>
            </a:r>
          </a:p>
          <a:p>
            <a:r>
              <a:rPr lang="pt-BR" sz="2000"/>
              <a:t>Em cenários práticos, esse comportamento é geralmente aceitável, pois a distinção entre tráfego benigno e malicioso costuma ser mais relevante do que a classificação detalhada de cada tipo específico de ataque.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ADACB816-6197-7B1B-F68C-7BBBEE3EBF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FA424D84-6EAF-C80C-50EE-075E9C4CC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r="128"/>
          <a:stretch>
            <a:fillRect/>
          </a:stretch>
        </p:blipFill>
        <p:spPr>
          <a:xfrm>
            <a:off x="6165765" y="1828800"/>
            <a:ext cx="5204643" cy="434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63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A2135-669E-E35C-84E6-91204843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Explicabilidade com SHAP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5D2091-5B3B-9B1C-5C70-B047FB39C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557520" cy="4635818"/>
          </a:xfrm>
        </p:spPr>
        <p:txBody>
          <a:bodyPr>
            <a:normAutofit lnSpcReduction="10000"/>
          </a:bodyPr>
          <a:lstStyle/>
          <a:p>
            <a:r>
              <a:rPr lang="pt-BR" sz="2000"/>
              <a:t>Características de fluxo com maior peso nas classificações:</a:t>
            </a:r>
            <a:endParaRPr lang="pt-BR"/>
          </a:p>
          <a:p>
            <a:pPr lvl="1">
              <a:buFont typeface="Courier New"/>
              <a:buChar char="o"/>
            </a:pPr>
            <a:r>
              <a:rPr lang="pt-BR" sz="1600"/>
              <a:t>número de pacotes</a:t>
            </a:r>
          </a:p>
          <a:p>
            <a:pPr lvl="1">
              <a:buFont typeface="Courier New"/>
              <a:buChar char="o"/>
            </a:pPr>
            <a:r>
              <a:rPr lang="pt-BR" sz="1600"/>
              <a:t>valor da flag PSH </a:t>
            </a:r>
          </a:p>
          <a:p>
            <a:pPr lvl="1">
              <a:buFont typeface="Courier New"/>
              <a:buChar char="o"/>
            </a:pPr>
            <a:r>
              <a:rPr lang="pt-BR" sz="1600"/>
              <a:t>valor da flag FIN</a:t>
            </a:r>
            <a:endParaRPr lang="pt-BR"/>
          </a:p>
          <a:p>
            <a:pPr lvl="1">
              <a:buFont typeface="Courier New"/>
              <a:buChar char="o"/>
            </a:pPr>
            <a:r>
              <a:rPr lang="pt-BR" sz="1600"/>
              <a:t>comprimento de cabeçalho</a:t>
            </a:r>
            <a:endParaRPr lang="pt-BR"/>
          </a:p>
          <a:p>
            <a:pPr lvl="1">
              <a:buFont typeface="Courier New"/>
              <a:buChar char="o"/>
            </a:pPr>
            <a:r>
              <a:rPr lang="pt-BR" sz="1600"/>
              <a:t>valor da flag SYN</a:t>
            </a:r>
            <a:endParaRPr lang="pt-BR"/>
          </a:p>
          <a:p>
            <a:pPr lvl="1">
              <a:buFont typeface="Courier New"/>
              <a:buChar char="o"/>
            </a:pPr>
            <a:r>
              <a:rPr lang="pt-BR" sz="1600"/>
              <a:t>intervalo entre a chegada de pacotes</a:t>
            </a:r>
            <a:endParaRPr lang="pt-BR"/>
          </a:p>
          <a:p>
            <a:pPr lvl="1">
              <a:buFont typeface="Courier New"/>
              <a:buChar char="o"/>
            </a:pPr>
            <a:r>
              <a:rPr lang="pt-BR" sz="1600"/>
              <a:t>taxa de transmissão</a:t>
            </a:r>
            <a:endParaRPr lang="pt-BR"/>
          </a:p>
          <a:p>
            <a:r>
              <a:rPr lang="pt-BR" sz="2000"/>
              <a:t>Isso demonstra coerência com o comportamento típico de tráfego malicioso, especialmente em ataques de negação de serviço (</a:t>
            </a:r>
            <a:r>
              <a:rPr lang="pt-BR" sz="2000" err="1"/>
              <a:t>DoS</a:t>
            </a:r>
            <a:r>
              <a:rPr lang="pt-BR" sz="2000"/>
              <a:t> e </a:t>
            </a:r>
            <a:r>
              <a:rPr lang="pt-BR" sz="2000" err="1"/>
              <a:t>DDoS</a:t>
            </a:r>
            <a:r>
              <a:rPr lang="pt-BR" sz="2000"/>
              <a:t>), que tendem a gerar volumes altos de pacotes, intervalos curtos entre transmissões e uso recorrente de flags como SYN, PSH e FIN para sobrecarregar ou manipular o estado da conexão.</a:t>
            </a:r>
          </a:p>
        </p:txBody>
      </p:sp>
      <p:pic>
        <p:nvPicPr>
          <p:cNvPr id="4" name="Imagem 3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7823431-4C28-43AA-EDE5-ADDBE5C2D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745" y="2228850"/>
            <a:ext cx="5157470" cy="34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17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898C6-B8DA-D96E-8C27-81ACB7A1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Análise global por classe – DDoS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3EDBB-0C26-5277-D1EC-94A39E6CE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527040" cy="4351338"/>
          </a:xfrm>
        </p:spPr>
        <p:txBody>
          <a:bodyPr>
            <a:noAutofit/>
          </a:bodyPr>
          <a:lstStyle/>
          <a:p>
            <a:r>
              <a:rPr lang="pt-BR" sz="2000"/>
              <a:t>As variáveis com maior contribuição positiva incluem as flags PSH, FIN e SYN. Isso pode indicar padrões de manipulação e sinalização atípica no fluxo TCP visando esgotar recursos.</a:t>
            </a:r>
          </a:p>
          <a:p>
            <a:r>
              <a:rPr lang="pt-BR" sz="2000"/>
              <a:t>De forma similar, valores altos de taxa de transmissão e valores baixos de intervalo entre a chegada de pacotes favorecem a predição por essa classe, o que é compatível com o perfil de saturação de ataques de </a:t>
            </a:r>
            <a:r>
              <a:rPr lang="pt-BR" sz="2000" err="1"/>
              <a:t>DDoS</a:t>
            </a:r>
            <a:r>
              <a:rPr lang="pt-BR" sz="2000"/>
              <a:t>.</a:t>
            </a:r>
          </a:p>
          <a:p>
            <a:r>
              <a:rPr lang="pt-BR" sz="2000"/>
              <a:t>Em contraste, a variável com maior contribuição negativa é o número de pacotes no fluxo: quanto menor seu valor, menos provável será a classificação de uma instância como DDoS.</a:t>
            </a:r>
          </a:p>
        </p:txBody>
      </p:sp>
      <p:pic>
        <p:nvPicPr>
          <p:cNvPr id="7" name="Imagem 6" descr="Gráfico&#10;&#10;O conteúdo gerado por IA pode estar incorreto.">
            <a:extLst>
              <a:ext uri="{FF2B5EF4-FFF2-40B4-BE49-F238E27FC236}">
                <a16:creationId xmlns:a16="http://schemas.microsoft.com/office/drawing/2014/main" id="{F8D796A1-66D7-7857-8EA3-D814BF64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65" y="2284730"/>
            <a:ext cx="4979670" cy="34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07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1E59-DF6C-6B9C-FDF3-8611648D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81796-3FC7-B7CC-ECE2-58461104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Análise global por classe – 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4D48B-E13D-1FEB-5135-4E4F7250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954037" cy="4821064"/>
          </a:xfrm>
        </p:spPr>
        <p:txBody>
          <a:bodyPr>
            <a:normAutofit/>
          </a:bodyPr>
          <a:lstStyle/>
          <a:p>
            <a:r>
              <a:rPr lang="pt-BR" sz="2000"/>
              <a:t>As variáveis com maior impacto negativo são as flags </a:t>
            </a:r>
            <a:r>
              <a:rPr lang="pt-BR" sz="2000" b="1"/>
              <a:t>PSH</a:t>
            </a:r>
            <a:r>
              <a:rPr lang="pt-BR" sz="2000"/>
              <a:t> e </a:t>
            </a:r>
            <a:r>
              <a:rPr lang="pt-BR" sz="2000" b="1"/>
              <a:t>FIN</a:t>
            </a:r>
            <a:r>
              <a:rPr lang="pt-BR" sz="2000"/>
              <a:t>, com valores altos reduzindo a probabilidade de classificação de uma instância como </a:t>
            </a:r>
            <a:r>
              <a:rPr lang="pt-BR" sz="2000" err="1"/>
              <a:t>DoS</a:t>
            </a:r>
            <a:r>
              <a:rPr lang="pt-BR" sz="2000"/>
              <a:t>. Isso é coerente com a composição dos ataques constantes no </a:t>
            </a:r>
            <a:r>
              <a:rPr lang="pt-BR" sz="2000" err="1"/>
              <a:t>dataset</a:t>
            </a:r>
            <a:r>
              <a:rPr lang="pt-BR" sz="2000"/>
              <a:t>.</a:t>
            </a:r>
          </a:p>
          <a:p>
            <a:r>
              <a:rPr lang="pt-BR" sz="2000"/>
              <a:t>Por outro lado, o valor da flag SYN, a taxa de transmissão e o intervalo entre a chegada de pacotes apresentam contribuições negativas com valores baixos para a última e valores altos para as demais. Isso reflete um padrão impreciso para </a:t>
            </a:r>
            <a:r>
              <a:rPr lang="pt-BR" sz="2000" err="1"/>
              <a:t>DoS</a:t>
            </a:r>
            <a:r>
              <a:rPr lang="pt-BR" sz="2000"/>
              <a:t> aprendido pelo modelo, que pode explicar a alta taxa de falsos negativos dessa classe, pois muitas instâncias de </a:t>
            </a:r>
            <a:r>
              <a:rPr lang="pt-BR" sz="2000" err="1"/>
              <a:t>DoS</a:t>
            </a:r>
            <a:r>
              <a:rPr lang="pt-BR" sz="2000"/>
              <a:t> acabam sendo absorvidas pela classe </a:t>
            </a:r>
            <a:r>
              <a:rPr lang="pt-BR" sz="2000" err="1"/>
              <a:t>DDoS</a:t>
            </a:r>
            <a:r>
              <a:rPr lang="pt-BR" sz="2000"/>
              <a:t> devido à semelhança dos padrões e ao forte desequilíbrio entre as classes.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590255-5F2E-E748-9A71-F70563FA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455" y="2627456"/>
            <a:ext cx="4564504" cy="32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77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71EF-C2A6-1826-A53C-4A7055DB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66821-CF83-DA34-39C6-FC8D4306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Análise global por classe – Reconhecimento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E8207C-288B-04CF-60B3-E6A019316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000"/>
              <a:t>A feature com maior impacto positivo é o número de pacotes no fluxo, com valores menores aumentando a probabilidade de classificação como ataque de reconhecimento. </a:t>
            </a:r>
          </a:p>
          <a:p>
            <a:r>
              <a:rPr lang="pt-BR" sz="2000"/>
              <a:t>Já as features com maior impacto negativo são protocolo HTTPS e os tamanhos máximo e médio dos pacotes, com valores elevados reduzindo a probabilidade de escolha pela classe. </a:t>
            </a:r>
          </a:p>
          <a:p>
            <a:r>
              <a:rPr lang="pt-BR" sz="2000"/>
              <a:t>Esses são padrões claramente distintos das classes anteriores e compatíveis com a natureza exploratória, esparsa e de baixo volume típica de ataques de reconhecimento.</a:t>
            </a:r>
          </a:p>
        </p:txBody>
      </p:sp>
      <p:pic>
        <p:nvPicPr>
          <p:cNvPr id="4" name="Imagem 3" descr="Gráfico&#10;&#10;O conteúdo gerado por IA pode estar incorreto.">
            <a:extLst>
              <a:ext uri="{FF2B5EF4-FFF2-40B4-BE49-F238E27FC236}">
                <a16:creationId xmlns:a16="http://schemas.microsoft.com/office/drawing/2014/main" id="{2053CDC4-EBE0-78B7-4884-659DDF23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281" y="2125967"/>
            <a:ext cx="5344178" cy="37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4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E11B-CBE6-9255-DB31-D1B75848E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F8A26-E4CF-7CE0-A5DF-0F3C3BD8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Análise global por classe – benigno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6988F-750B-CEE3-0BF5-D25050628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000"/>
              <a:t>A feature com maior impacto positivo é o número de pacotes no fluxo, com valores menores aumentando a probabilidade de classificação como tráfego benigno. </a:t>
            </a:r>
            <a:endParaRPr lang="en-US" sz="2000"/>
          </a:p>
          <a:p>
            <a:r>
              <a:rPr lang="pt-BR" sz="2000"/>
              <a:t>Da mesma forma, as features HTTPS e tamanhos médio e máximo de pacotes têm contribuição positiva, mas com valores maiores favorecendo a escolha pela classe.</a:t>
            </a:r>
          </a:p>
          <a:p>
            <a:r>
              <a:rPr lang="pt-BR" sz="2000"/>
              <a:t>Esse é um padrão compatível com o cenário IoT, caracterizado por fluxos curtos e de baixa volumetria.</a:t>
            </a:r>
          </a:p>
        </p:txBody>
      </p:sp>
      <p:pic>
        <p:nvPicPr>
          <p:cNvPr id="4" name="Imagem 3" descr="Gráfico&#10;&#10;O conteúdo gerado por IA pode estar incorreto.">
            <a:extLst>
              <a:ext uri="{FF2B5EF4-FFF2-40B4-BE49-F238E27FC236}">
                <a16:creationId xmlns:a16="http://schemas.microsoft.com/office/drawing/2014/main" id="{0C1B7F84-13F3-17C7-D87C-4CDCDCD5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405" y="2117090"/>
            <a:ext cx="5335270" cy="3751580"/>
          </a:xfrm>
          <a:prstGeom prst="rect">
            <a:avLst/>
          </a:prstGeom>
        </p:spPr>
      </p:pic>
      <p:pic>
        <p:nvPicPr>
          <p:cNvPr id="6" name="Google Shape;91;p13" descr="Logo">
            <a:extLst>
              <a:ext uri="{FF2B5EF4-FFF2-40B4-BE49-F238E27FC236}">
                <a16:creationId xmlns:a16="http://schemas.microsoft.com/office/drawing/2014/main" id="{BDB37EF0-222D-3A7D-FB89-440B3FE41F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386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7FBC-150D-467B-662D-B6F56159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A1813-715B-DEEB-C5F5-47AFAA9A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677" y="2793365"/>
            <a:ext cx="6374408" cy="1269187"/>
          </a:xfrm>
        </p:spPr>
        <p:txBody>
          <a:bodyPr>
            <a:normAutofit/>
          </a:bodyPr>
          <a:lstStyle/>
          <a:p>
            <a:r>
              <a:rPr lang="pt-BR"/>
              <a:t>Conclusão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A82BB106-F032-88F6-73C9-DE640241C6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1400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CC7E8-4D98-C0C7-D246-25CD19FD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Conclusão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3757C0-526A-EB36-DF11-DF19D211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9982"/>
            <a:ext cx="10515600" cy="4351338"/>
          </a:xfrm>
        </p:spPr>
        <p:txBody>
          <a:bodyPr>
            <a:noAutofit/>
          </a:bodyPr>
          <a:lstStyle/>
          <a:p>
            <a:r>
              <a:rPr lang="pt-BR" sz="2000"/>
              <a:t>Este trabalho apresentou uma aplicação de aprendizado federado para a tarefa de detecção de ameaças no contexto de IoT, utilizando o modelo </a:t>
            </a:r>
            <a:r>
              <a:rPr lang="pt-BR" sz="2000" err="1"/>
              <a:t>XGBoost</a:t>
            </a:r>
            <a:r>
              <a:rPr lang="pt-BR" sz="2000"/>
              <a:t> e o </a:t>
            </a:r>
            <a:r>
              <a:rPr lang="pt-BR" sz="2000" err="1"/>
              <a:t>dataset</a:t>
            </a:r>
            <a:r>
              <a:rPr lang="pt-BR" sz="2000"/>
              <a:t> CICIoT2023. A análise contemplou tanto o cenário de classificação </a:t>
            </a:r>
            <a:r>
              <a:rPr lang="pt-BR" sz="2000" err="1"/>
              <a:t>multiclasses</a:t>
            </a:r>
            <a:r>
              <a:rPr lang="pt-BR" sz="2000"/>
              <a:t> quanto o binário, além da aplicação de SHAP para compreender o comportamento interno do modelo. </a:t>
            </a:r>
          </a:p>
          <a:p>
            <a:r>
              <a:rPr lang="pt-BR" sz="2000"/>
              <a:t>No cenário </a:t>
            </a:r>
            <a:r>
              <a:rPr lang="pt-BR" sz="2000" err="1"/>
              <a:t>multiclasses</a:t>
            </a:r>
            <a:r>
              <a:rPr lang="pt-BR" sz="2000"/>
              <a:t>, embora o modelo apresente desempenho razoável, ainda existem limitações relevantes na discriminação entre tipos específicos de ataques, devido a semelhança entre os padrões de tráfego e ao forte desbalanceamento presente no </a:t>
            </a:r>
            <a:r>
              <a:rPr lang="pt-BR" sz="2000" err="1"/>
              <a:t>dataset</a:t>
            </a:r>
            <a:r>
              <a:rPr lang="pt-BR" sz="2000"/>
              <a:t>.</a:t>
            </a:r>
          </a:p>
          <a:p>
            <a:r>
              <a:rPr lang="pt-BR" sz="2000"/>
              <a:t>No cenário binário, o modelo alcança desempenho quase perfeito. A agregação das classes de ataque reduz drasticamente os erros de confusão observados no cenário </a:t>
            </a:r>
            <a:r>
              <a:rPr lang="pt-BR" sz="2000" err="1"/>
              <a:t>multiclasses</a:t>
            </a:r>
            <a:r>
              <a:rPr lang="pt-BR" sz="2000"/>
              <a:t>.</a:t>
            </a:r>
          </a:p>
          <a:p>
            <a:r>
              <a:rPr lang="pt-BR" sz="2000"/>
              <a:t>A análise interpretável via SHAP complementou a avaliação quantitativa, revelando as variáveis mais relevantes na discriminação entre as classes e elucidando as causas da principal limitação observada na classificação </a:t>
            </a:r>
            <a:r>
              <a:rPr lang="pt-BR" sz="2000" err="1"/>
              <a:t>multiclasses</a:t>
            </a:r>
            <a:r>
              <a:rPr lang="pt-BR" sz="2000"/>
              <a:t> — a sobreposição de características entre </a:t>
            </a:r>
            <a:r>
              <a:rPr lang="pt-BR" sz="2000" err="1"/>
              <a:t>DDoS</a:t>
            </a:r>
            <a:r>
              <a:rPr lang="pt-BR" sz="2000"/>
              <a:t> e </a:t>
            </a:r>
            <a:r>
              <a:rPr lang="pt-BR" sz="2000" err="1"/>
              <a:t>DoS</a:t>
            </a:r>
            <a:r>
              <a:rPr lang="pt-BR" sz="2000"/>
              <a:t>. </a:t>
            </a:r>
          </a:p>
          <a:p>
            <a:r>
              <a:rPr lang="pt-BR" sz="2000"/>
              <a:t>Esses achados destacam tanto a eficácia quanto os desafios da utilização de aprendizado de máquina para detecção de ameaças, ao mesmo tempo em que demonstram o valor da explicabilidade para compreender e aprimorar soluções baseadas em IA em cibersegurança.</a:t>
            </a:r>
            <a:endParaRPr lang="pt-BR"/>
          </a:p>
          <a:p>
            <a:endParaRPr lang="pt-BR" sz="2000"/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518316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2D2E-41E0-4EE5-DD4F-E85666C7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5337A-B236-2734-A681-CBA19BBD7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4391" y="2793365"/>
            <a:ext cx="7045694" cy="1269187"/>
          </a:xfrm>
        </p:spPr>
        <p:txBody>
          <a:bodyPr>
            <a:normAutofit/>
          </a:bodyPr>
          <a:lstStyle/>
          <a:p>
            <a:r>
              <a:rPr lang="pt-BR"/>
              <a:t>Trabalhos Futuros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C5C27E3C-E37C-3B57-B3A9-7F296321C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0465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F7DE-B98A-692A-B12B-B48C85E4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31548-79CB-C3CE-8D34-6ADAEB98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064"/>
          </a:xfrm>
        </p:spPr>
        <p:txBody>
          <a:bodyPr>
            <a:normAutofit fontScale="90000"/>
          </a:bodyPr>
          <a:lstStyle/>
          <a:p>
            <a:r>
              <a:rPr lang="pt-BR"/>
              <a:t>Trabalhos Futuros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B026B8-BEAB-588D-EC56-755EC22B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6911"/>
            <a:ext cx="10515600" cy="4396696"/>
          </a:xfrm>
        </p:spPr>
        <p:txBody>
          <a:bodyPr>
            <a:normAutofit/>
          </a:bodyPr>
          <a:lstStyle/>
          <a:p>
            <a:r>
              <a:rPr lang="pt-BR" sz="2400" dirty="0"/>
              <a:t>Como trabalhos futuros, propõe-se expandir a avaliação para outros modelos de aprendizado de máquina, incluindo arquiteturas de </a:t>
            </a:r>
            <a:r>
              <a:rPr lang="pt-BR" sz="2400" err="1"/>
              <a:t>Deep</a:t>
            </a:r>
            <a:r>
              <a:rPr lang="pt-BR" sz="2400" dirty="0"/>
              <a:t> Learning capazes de capturar padrões mais complexos do tráfego. </a:t>
            </a:r>
          </a:p>
          <a:p>
            <a:r>
              <a:rPr lang="pt-BR" sz="2400" dirty="0"/>
              <a:t>Além disso, recomenda-se testar a abordagem em diferentes </a:t>
            </a:r>
            <a:r>
              <a:rPr lang="pt-BR" sz="2400" err="1"/>
              <a:t>datasets</a:t>
            </a:r>
            <a:r>
              <a:rPr lang="pt-BR" sz="2400" dirty="0"/>
              <a:t> de ameaças cibernéticas, que apresentem conjuntos de features distintos e cenários mais diversificados. </a:t>
            </a:r>
          </a:p>
          <a:p>
            <a:r>
              <a:rPr lang="pt-BR" sz="2400" dirty="0"/>
              <a:t>A aplicação de métodos de XAI nesses novos contextos permitirá comparar modelos e bases de dados não apenas do ponto de vista quantitativo, mas também qualitativo, oferecendo uma compreensão mais profunda sobre como cada modelo distingue as classes de tráfego e revelando quais atributos são mais relevantes para a caracterizar diferentes tipos de ataques.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0295F771-22C6-E045-7656-14DDCFC6EA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5080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pt-BR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Perguntas?</a:t>
            </a:r>
            <a:endParaRPr sz="6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883CAC03-86A5-8864-C4AD-08DB3D1786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2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Referências</a:t>
            </a:r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1"/>
          </p:nvPr>
        </p:nvSpPr>
        <p:spPr>
          <a:xfrm>
            <a:off x="839068" y="1027790"/>
            <a:ext cx="11076505" cy="605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r>
              <a:rPr lang="pt-BR"/>
              <a:t>[1] Samir Lemes. “The Role of Software Engineering in Industry 4.0”. Em: </a:t>
            </a:r>
            <a:r>
              <a:rPr lang="pt-BR" i="1" err="1"/>
              <a:t>ResearchGate</a:t>
            </a:r>
            <a:r>
              <a:rPr lang="pt-BR"/>
              <a:t> (2023). Disponível em </a:t>
            </a:r>
            <a:r>
              <a:rPr lang="pt-BR" err="1"/>
              <a:t>ResearchGate</a:t>
            </a:r>
            <a:r>
              <a:rPr lang="pt-BR"/>
              <a:t> – ID de publicação 374532017.</a:t>
            </a:r>
          </a:p>
          <a:p>
            <a:r>
              <a:rPr lang="pt-BR"/>
              <a:t>[2] Vitor Fantin. </a:t>
            </a:r>
            <a:r>
              <a:rPr lang="pt-BR" i="1"/>
              <a:t>Cibersegurança em Alta: Tendências e Investimentos até 2028</a:t>
            </a:r>
            <a:r>
              <a:rPr lang="pt-BR"/>
              <a:t>. URL: </a:t>
            </a:r>
            <a:r>
              <a:rPr lang="pt-BR">
                <a:hlinkClick r:id="rId3"/>
              </a:rPr>
              <a:t>https://www.linkedin.com/pulse/ciberseguran%C3%A7a-em-alta-tend%C3%AAncias-e-investimentos-at%C3%A9-2028-ecake/</a:t>
            </a:r>
            <a:r>
              <a:rPr lang="pt-BR"/>
              <a:t> (acesso em 20/08/2025).</a:t>
            </a:r>
          </a:p>
          <a:p>
            <a:r>
              <a:rPr lang="pt-BR"/>
              <a:t>[3] R. </a:t>
            </a:r>
            <a:r>
              <a:rPr lang="pt-BR" err="1"/>
              <a:t>Kalakoti</a:t>
            </a:r>
            <a:r>
              <a:rPr lang="pt-BR"/>
              <a:t>, H. Bahsi e S. Nõmm. “Improving IoT Security With Explainable AI: Quantitative Evaluation of Explainability for IoT Botnet </a:t>
            </a:r>
            <a:r>
              <a:rPr lang="pt-BR" err="1"/>
              <a:t>Detection</a:t>
            </a:r>
            <a:r>
              <a:rPr lang="pt-BR"/>
              <a:t>”. Em: </a:t>
            </a:r>
            <a:r>
              <a:rPr lang="pt-BR" i="1"/>
              <a:t>IEEE Internet </a:t>
            </a:r>
            <a:r>
              <a:rPr lang="pt-BR" i="1" err="1"/>
              <a:t>of</a:t>
            </a:r>
            <a:r>
              <a:rPr lang="pt-BR" i="1"/>
              <a:t> </a:t>
            </a:r>
            <a:r>
              <a:rPr lang="pt-BR" i="1" err="1"/>
              <a:t>Things</a:t>
            </a:r>
            <a:r>
              <a:rPr lang="pt-BR" i="1"/>
              <a:t> </a:t>
            </a:r>
            <a:r>
              <a:rPr lang="pt-BR" i="1" err="1"/>
              <a:t>Journal</a:t>
            </a:r>
            <a:r>
              <a:rPr lang="pt-BR"/>
              <a:t> 11.10 (2024), pp. 18237–18254. DOI: 10.1109/JIOT.2024.3360626.</a:t>
            </a:r>
          </a:p>
          <a:p>
            <a:r>
              <a:rPr lang="pt-BR"/>
              <a:t>[4] K. </a:t>
            </a:r>
            <a:r>
              <a:rPr lang="pt-BR" err="1"/>
              <a:t>Fatema</a:t>
            </a:r>
            <a:r>
              <a:rPr lang="pt-BR"/>
              <a:t> et al. “Federated XAI IDS: An Explainable and Safeguarding Privacy Approach to Detect Intrusion Combining Federated Learning and SHAP”. Em: </a:t>
            </a:r>
            <a:r>
              <a:rPr lang="pt-BR" i="1"/>
              <a:t>Future Internet</a:t>
            </a:r>
            <a:r>
              <a:rPr lang="pt-BR"/>
              <a:t> 17.6 (2025), p. 234. DOI: 10.3390/fi17060234.</a:t>
            </a:r>
          </a:p>
          <a:p>
            <a:pPr marL="285750" indent="-285750"/>
            <a:endParaRPr 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A3AAC0A6-0442-49EB-6C7B-8C7832EC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>
            <a:extLst>
              <a:ext uri="{FF2B5EF4-FFF2-40B4-BE49-F238E27FC236}">
                <a16:creationId xmlns:a16="http://schemas.microsoft.com/office/drawing/2014/main" id="{8B26D6A7-ACA9-B34D-A6D8-63565A84D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2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Referências</a:t>
            </a:r>
          </a:p>
        </p:txBody>
      </p:sp>
      <p:sp>
        <p:nvSpPr>
          <p:cNvPr id="242" name="Google Shape;242;p34">
            <a:extLst>
              <a:ext uri="{FF2B5EF4-FFF2-40B4-BE49-F238E27FC236}">
                <a16:creationId xmlns:a16="http://schemas.microsoft.com/office/drawing/2014/main" id="{F1DB425D-5C18-61F2-0CDB-E63329B61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068" y="1027790"/>
            <a:ext cx="11076505" cy="605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pt-BR" dirty="0"/>
              <a:t>[5] Euclides Carlos Pinto Neto, </a:t>
            </a:r>
            <a:r>
              <a:rPr lang="pt-BR" dirty="0" err="1"/>
              <a:t>Sajjad</a:t>
            </a:r>
            <a:r>
              <a:rPr lang="pt-BR" dirty="0"/>
              <a:t> </a:t>
            </a:r>
            <a:r>
              <a:rPr lang="pt-BR" dirty="0" err="1"/>
              <a:t>Dadkhah</a:t>
            </a:r>
            <a:r>
              <a:rPr lang="pt-BR" dirty="0"/>
              <a:t>, Raphael Ferreira, </a:t>
            </a:r>
            <a:r>
              <a:rPr lang="pt-BR" dirty="0" err="1"/>
              <a:t>Alireza</a:t>
            </a:r>
            <a:r>
              <a:rPr lang="pt-BR" dirty="0"/>
              <a:t> </a:t>
            </a:r>
            <a:r>
              <a:rPr lang="pt-BR" dirty="0" err="1"/>
              <a:t>Zohourian</a:t>
            </a:r>
            <a:r>
              <a:rPr lang="pt-BR" dirty="0"/>
              <a:t>, </a:t>
            </a:r>
            <a:r>
              <a:rPr lang="pt-BR" dirty="0" err="1"/>
              <a:t>Rongxing</a:t>
            </a:r>
            <a:r>
              <a:rPr lang="pt-BR" dirty="0"/>
              <a:t> Lu e Ali A. </a:t>
            </a:r>
            <a:r>
              <a:rPr lang="pt-BR" dirty="0" err="1"/>
              <a:t>Ghorbani</a:t>
            </a:r>
            <a:r>
              <a:rPr lang="pt-BR" dirty="0"/>
              <a:t>. “CICIoT2023: A Real-Time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Benchmark for Large-</a:t>
            </a:r>
            <a:r>
              <a:rPr lang="pt-BR" dirty="0" err="1"/>
              <a:t>Scale</a:t>
            </a:r>
            <a:r>
              <a:rPr lang="pt-BR" dirty="0"/>
              <a:t> </a:t>
            </a:r>
            <a:r>
              <a:rPr lang="pt-BR" dirty="0" err="1"/>
              <a:t>Attacks</a:t>
            </a:r>
            <a:r>
              <a:rPr lang="pt-BR" dirty="0"/>
              <a:t> in IoT </a:t>
            </a:r>
            <a:r>
              <a:rPr lang="pt-BR" dirty="0" err="1"/>
              <a:t>Environment</a:t>
            </a:r>
            <a:r>
              <a:rPr lang="pt-BR" dirty="0"/>
              <a:t>”. Em: </a:t>
            </a:r>
            <a:r>
              <a:rPr lang="pt-BR" i="1" dirty="0" err="1"/>
              <a:t>Sensors</a:t>
            </a:r>
            <a:r>
              <a:rPr lang="pt-BR" dirty="0"/>
              <a:t> 23.13 (2023), p. 5941. DOI: 10.3390/s23135941. URL: </a:t>
            </a:r>
            <a:r>
              <a:rPr lang="pt-BR" dirty="0">
                <a:hlinkClick r:id="rId3"/>
              </a:rPr>
              <a:t>https://www.mdpi.com/1424-8220/23/13/5941</a:t>
            </a:r>
            <a:endParaRPr lang="pt-BR" dirty="0"/>
          </a:p>
          <a:p>
            <a:pPr marL="285750" indent="-285750"/>
            <a:r>
              <a:rPr lang="pt-BR" dirty="0"/>
              <a:t>[6] W. Hsieh, Z. Bi e C. et al. Jiang. “A </a:t>
            </a:r>
            <a:r>
              <a:rPr lang="pt-BR" dirty="0" err="1"/>
              <a:t>Comprehensive</a:t>
            </a:r>
            <a:r>
              <a:rPr lang="pt-BR" dirty="0"/>
              <a:t> </a:t>
            </a:r>
            <a:r>
              <a:rPr lang="pt-BR" dirty="0" err="1"/>
              <a:t>Guide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Explainable</a:t>
            </a:r>
            <a:r>
              <a:rPr lang="pt-BR" dirty="0"/>
              <a:t> AI: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Classical</a:t>
            </a:r>
            <a:r>
              <a:rPr lang="pt-BR" dirty="0"/>
              <a:t> Models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LLMs</a:t>
            </a:r>
            <a:r>
              <a:rPr lang="pt-BR" dirty="0"/>
              <a:t>”. Em: </a:t>
            </a:r>
            <a:r>
              <a:rPr lang="pt-BR" i="1" dirty="0" err="1"/>
              <a:t>arXiv</a:t>
            </a:r>
            <a:r>
              <a:rPr lang="pt-BR" i="1" dirty="0"/>
              <a:t> </a:t>
            </a:r>
            <a:r>
              <a:rPr lang="pt-BR" i="1" dirty="0" err="1"/>
              <a:t>preprint</a:t>
            </a:r>
            <a:r>
              <a:rPr lang="pt-BR" dirty="0"/>
              <a:t> (2024). </a:t>
            </a:r>
            <a:r>
              <a:rPr lang="pt-BR" dirty="0" err="1"/>
              <a:t>arXiv</a:t>
            </a:r>
            <a:r>
              <a:rPr lang="pt-BR" dirty="0"/>
              <a:t>: </a:t>
            </a:r>
            <a:r>
              <a:rPr lang="pt-BR" i="1" dirty="0"/>
              <a:t>2412.00800 [</a:t>
            </a:r>
            <a:r>
              <a:rPr lang="pt-BR" i="1" dirty="0" err="1"/>
              <a:t>cs.LG</a:t>
            </a:r>
            <a:r>
              <a:rPr lang="pt-BR" i="1" dirty="0"/>
              <a:t>]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8701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BB63C-0665-E76F-8DE7-2C0167E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598805"/>
            <a:ext cx="10505440" cy="522923"/>
          </a:xfrm>
        </p:spPr>
        <p:txBody>
          <a:bodyPr>
            <a:normAutofit fontScale="90000"/>
          </a:bodyPr>
          <a:lstStyle/>
          <a:p>
            <a:r>
              <a:rPr lang="pt-BR"/>
              <a:t>Repositório GitHub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66CC5D-2782-661F-AC28-6F47AE13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80" y="1602105"/>
            <a:ext cx="10942320" cy="4178618"/>
          </a:xfrm>
        </p:spPr>
        <p:txBody>
          <a:bodyPr/>
          <a:lstStyle/>
          <a:p>
            <a:r>
              <a:rPr lang="pt-BR"/>
              <a:t>Link de acesso ao repositório:</a:t>
            </a:r>
            <a:endParaRPr lang="en-US"/>
          </a:p>
          <a:p>
            <a:endParaRPr lang="pt-BR"/>
          </a:p>
          <a:p>
            <a:r>
              <a:rPr lang="pt-BR"/>
              <a:t>https://github.com/PauloLuczensky/Projeto-TP-558/tree/main</a:t>
            </a:r>
          </a:p>
          <a:p>
            <a:endParaRPr lang="pt-BR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B9C5DAE1-3E4E-1EEE-8549-26E3A860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824" y="4823135"/>
            <a:ext cx="1282065" cy="1640205"/>
          </a:xfrm>
          <a:prstGeom prst="rect">
            <a:avLst/>
          </a:prstGeom>
        </p:spPr>
      </p:pic>
      <p:pic>
        <p:nvPicPr>
          <p:cNvPr id="6" name="Google Shape;91;p13" descr="Logo">
            <a:extLst>
              <a:ext uri="{FF2B5EF4-FFF2-40B4-BE49-F238E27FC236}">
                <a16:creationId xmlns:a16="http://schemas.microsoft.com/office/drawing/2014/main" id="{834372EE-7ECD-AA00-B535-8C3BF0520B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5196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pt-BR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sz="6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0" baseType="lpstr">
      <vt:lpstr>Tema do Office</vt:lpstr>
      <vt:lpstr>TP558 - Tópicos avançados em Machine Learning: Detecção de Ameaças IoT: Abordagem Federada e Explicável</vt:lpstr>
      <vt:lpstr>Introdução</vt:lpstr>
      <vt:lpstr>Introdução - Visão Geral de Ataques Cibernéticos</vt:lpstr>
      <vt:lpstr>Introdução - Visão Geral dos Ataques em IoT</vt:lpstr>
      <vt:lpstr>Referencial Teórico </vt:lpstr>
      <vt:lpstr>Referencial Teórico</vt:lpstr>
      <vt:lpstr>Referencial Teórico</vt:lpstr>
      <vt:lpstr>Referencial Teórico</vt:lpstr>
      <vt:lpstr>Proposta de projeto </vt:lpstr>
      <vt:lpstr>Solução Tecnológica</vt:lpstr>
      <vt:lpstr>Metodologia </vt:lpstr>
      <vt:lpstr>Arquitetura do projeto</vt:lpstr>
      <vt:lpstr>Dataset</vt:lpstr>
      <vt:lpstr>Dataset</vt:lpstr>
      <vt:lpstr>Dataset</vt:lpstr>
      <vt:lpstr>XGBoost</vt:lpstr>
      <vt:lpstr>Otimização de hiperparâmetros (Optuna)</vt:lpstr>
      <vt:lpstr>Aprendizado Federado</vt:lpstr>
      <vt:lpstr>IA Explicável (XAI)</vt:lpstr>
      <vt:lpstr>Shapley Additive Explanations (SHAP)</vt:lpstr>
      <vt:lpstr>Resultados </vt:lpstr>
      <vt:lpstr>Classificação multiclasses</vt:lpstr>
      <vt:lpstr>Classificação multiclasses </vt:lpstr>
      <vt:lpstr>Classificação binária</vt:lpstr>
      <vt:lpstr>Classificação binária</vt:lpstr>
      <vt:lpstr>Explicabilidade com SHAP</vt:lpstr>
      <vt:lpstr>Análise global por classe – DDoS</vt:lpstr>
      <vt:lpstr>Análise global por classe – DoS</vt:lpstr>
      <vt:lpstr>Análise global por classe – Reconhecimento</vt:lpstr>
      <vt:lpstr>Análise global por classe – benigno</vt:lpstr>
      <vt:lpstr>Conclusão </vt:lpstr>
      <vt:lpstr>Conclusão</vt:lpstr>
      <vt:lpstr>Trabalhos Futuros </vt:lpstr>
      <vt:lpstr>Trabalhos Futuros</vt:lpstr>
      <vt:lpstr>Apresentação do PowerPoint</vt:lpstr>
      <vt:lpstr>Referências</vt:lpstr>
      <vt:lpstr>Referências</vt:lpstr>
      <vt:lpstr>Repositório GitHub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12</cp:revision>
  <dcterms:modified xsi:type="dcterms:W3CDTF">2025-11-29T00:53:21Z</dcterms:modified>
</cp:coreProperties>
</file>